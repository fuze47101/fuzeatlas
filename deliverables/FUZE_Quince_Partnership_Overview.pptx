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5D4"/>
          </a:solidFill>
          <a:ln/>
        </p:spPr>
      </p:sp>
      <p:pic>
        <p:nvPicPr>
          <p:cNvPr id="3" name="Image 0" descr="assets/fuze-icon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8869680" y="640080"/>
            <a:ext cx="3291840" cy="2523744"/>
          </a:xfrm>
          <a:prstGeom prst="rect">
            <a:avLst/>
          </a:prstGeom>
        </p:spPr>
      </p:pic>
      <p:pic>
        <p:nvPicPr>
          <p:cNvPr id="4" name="Image 1" descr="assets/fuze-logo-stacked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1591056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PARTNERSHIP PROPOSAL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697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Affordable Luxury That</a:t>
            </a:r>
            <a:endParaRPr lang="en-US" sz="4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Stays Fresh — Longer</a:t>
            </a:r>
            <a:endParaRPr lang="en-US" sz="4900" dirty="0"/>
          </a:p>
        </p:txBody>
      </p:sp>
      <p:sp>
        <p:nvSpPr>
          <p:cNvPr id="7" name="Text 3"/>
          <p:cNvSpPr/>
          <p:nvPr/>
        </p:nvSpPr>
        <p:spPr>
          <a:xfrm>
            <a:off x="822960" y="45262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Non-toxic, PFAS-free antimicrobial freshness for Quince essentials —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performance your customers feel, every day.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822960" y="5532120"/>
            <a:ext cx="2743200" cy="0"/>
          </a:xfrm>
          <a:prstGeom prst="line">
            <a:avLst/>
          </a:prstGeom>
          <a:noFill/>
          <a:ln w="25400">
            <a:solidFill>
              <a:srgbClr val="1FA89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Quince  ·  FUZE Biotech, Salt Lake City, USA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on quality and price — now win on performance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6537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Quince already disrupted luxury on quality and price. The next edge is a benefit customers feel every wash: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FUZE-treated essentials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stay fresh and protected — without PFAS, without compromise, fully on-brand.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178308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71232" y="207568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4" y="22402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49640" y="1984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by customers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49640" y="2350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Bedding, towels and basics that stay fresher, wash after wash.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324612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71232" y="353872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37033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49640" y="34472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&amp; clean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549640" y="38130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Non-toxic, PFAS-free, OEKO-TEX — made for the conscious shopper.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0" y="470916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571232" y="500176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51663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exclusive edge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49640" y="52760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patented freshness technology competitors can’t copy.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5532120"/>
            <a:ext cx="6537960" cy="640080"/>
          </a:xfrm>
          <a:prstGeom prst="rect">
            <a:avLst/>
          </a:prstGeom>
          <a:solidFill>
            <a:srgbClr val="12283A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55321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“Affordable luxury that performs — a feature story Quince can own.”</a:t>
            </a:r>
            <a:endParaRPr lang="en-US" sz="1250" dirty="0"/>
          </a:p>
        </p:txBody>
      </p:sp>
      <p:pic>
        <p:nvPicPr>
          <p:cNvPr id="22" name="Image 3" descr="assets/fuze-logo-horizont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Quince customer — and the Quince model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Quince’s factory-direct supply chain and values-driven audience are the ideal home for FUZE: applied at the mills you already control, sold to shoppers who already care.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$340M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revenue — fast-growing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$4.5B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4590288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valuation, 2025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9016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9016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5" name="Text 13"/>
          <p:cNvSpPr/>
          <p:nvPr/>
        </p:nvSpPr>
        <p:spPr>
          <a:xfrm>
            <a:off x="8385048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8403336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· San Francisco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777240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factory-direct — control at the mill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15968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Conscious</a:t>
            </a:r>
            <a:endParaRPr lang="en-US" sz="3100" dirty="0"/>
          </a:p>
        </p:txBody>
      </p:sp>
      <p:sp>
        <p:nvSpPr>
          <p:cNvPr id="24" name="Text 22"/>
          <p:cNvSpPr/>
          <p:nvPr/>
        </p:nvSpPr>
        <p:spPr>
          <a:xfrm>
            <a:off x="4590288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sustainability-led brand promise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29016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29016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7" name="Text 25"/>
          <p:cNvSpPr/>
          <p:nvPr/>
        </p:nvSpPr>
        <p:spPr>
          <a:xfrm>
            <a:off x="8385048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</a:t>
            </a:r>
            <a:endParaRPr lang="en-US" sz="3100" dirty="0"/>
          </a:p>
        </p:txBody>
      </p:sp>
      <p:sp>
        <p:nvSpPr>
          <p:cNvPr id="28" name="Text 26"/>
          <p:cNvSpPr/>
          <p:nvPr/>
        </p:nvSpPr>
        <p:spPr>
          <a:xfrm>
            <a:off x="8403336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cashmere · silk · linen · cotton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parts — factory control and a values-driven audience — Quince already has.  </a:t>
            </a:r>
            <a:pPr algn="ctr" indent="0" marL="0">
              <a:buNone/>
            </a:pPr>
            <a:r>
              <a:rPr lang="en-US" sz="1500" b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the upgrade.</a:t>
            </a:r>
            <a:endParaRPr lang="en-US" sz="1500" dirty="0"/>
          </a:p>
        </p:txBody>
      </p:sp>
      <p:pic>
        <p:nvPicPr>
          <p:cNvPr id="30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FUZE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reasons FUZE belongs on Quince products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414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2024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&amp; Non-Toxic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20240" y="2697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Baby-safe, PFAS-free, OEKO-TEX Class I. Non-leaching — nothing migrates into skin or wash water.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21284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4414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68096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680960" y="2697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washes, longer product life, circular feedstock — less waste, lower footprint.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4160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54456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7731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92024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Exclusive &amp; Proven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1920240" y="5029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worldwide patents, sole-source, third-party validated. A differentiator rivals can’t buy.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63640" y="4160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454456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7731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68096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They Feel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7680960" y="5029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freshness, odor &amp; mildew resistance, durable through 100 washes.</a:t>
            </a:r>
            <a:endParaRPr lang="en-US" sz="1300" dirty="0"/>
          </a:p>
        </p:txBody>
      </p:sp>
      <p:pic>
        <p:nvPicPr>
          <p:cNvPr id="28" name="Image 4" descr="assets/fuze-logo-horizon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treatment, across the Quince catalog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drops into standard textile finishing — so it applies across nearly everything Quince sells.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3621024" cy="1627632"/>
          </a:xfrm>
          <a:prstGeom prst="roundRect">
            <a:avLst>
              <a:gd name="adj" fmla="val 39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468880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243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0472" y="2487168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Bedding &amp; Sheets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8952" y="3163824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fresh between washes; resists odor and mildew.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621024" cy="1627632"/>
          </a:xfrm>
          <a:prstGeom prst="roundRect">
            <a:avLst>
              <a:gd name="adj" fmla="val 39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468880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6243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487168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Towels &amp; Bath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0" y="3163824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Fights musty odor and mildew in damp, humid use.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9016" y="2194560"/>
            <a:ext cx="3621024" cy="1627632"/>
          </a:xfrm>
          <a:prstGeom prst="roundRect">
            <a:avLst>
              <a:gd name="adj" fmla="val 39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85048" y="2468880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6243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16568" y="2487168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Activewear &amp; Basics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85048" y="3163824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Neutralizes odor-causing bacteria — wear longer, wash less.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4014216"/>
            <a:ext cx="3621024" cy="1627632"/>
          </a:xfrm>
          <a:prstGeom prst="roundRect">
            <a:avLst>
              <a:gd name="adj" fmla="val 39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8952" y="428853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4398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90472" y="430682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Cashmere &amp; Wool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58952" y="498348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protection for delicate, hard-to-wash luxury.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15968" y="4014216"/>
            <a:ext cx="3621024" cy="1627632"/>
          </a:xfrm>
          <a:prstGeom prst="roundRect">
            <a:avLst>
              <a:gd name="adj" fmla="val 39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0" y="428853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443984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430682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Linen &amp; Silk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72000" y="498348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freshness with no change to hand or drape.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9016" y="4014216"/>
            <a:ext cx="3621024" cy="1627632"/>
          </a:xfrm>
          <a:prstGeom prst="roundRect">
            <a:avLst>
              <a:gd name="adj" fmla="val 39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85048" y="428853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4443984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16568" y="430682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&amp; Baby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85048" y="498348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Gentle, non-toxic protection safe for sensitive skin.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at finishing — exhaust, pad-dry-cure or spray — on the equipment your mills already run.</a:t>
            </a:r>
            <a:endParaRPr lang="en-US" sz="1200" dirty="0"/>
          </a:p>
        </p:txBody>
      </p:sp>
      <p:pic>
        <p:nvPicPr>
          <p:cNvPr id="36" name="Image 6" descr="assets/fuze-logo-horizon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PROMISE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Stays fresher, longer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benefit behind the marketing — what Quince customers actually feel.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3621024" cy="1627632"/>
          </a:xfrm>
          <a:prstGeom prst="roundRect">
            <a:avLst>
              <a:gd name="adj" fmla="val 39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468880"/>
            <a:ext cx="603504" cy="603504"/>
          </a:xfrm>
          <a:prstGeom prst="ellipse">
            <a:avLst/>
          </a:prstGeom>
          <a:solidFill>
            <a:srgbClr val="1FA89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243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0472" y="2487168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freshness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8952" y="3163824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Odor-causing bacteria neutralized on the fiber, before smell sets in.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621024" cy="1627632"/>
          </a:xfrm>
          <a:prstGeom prst="roundRect">
            <a:avLst>
              <a:gd name="adj" fmla="val 39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468880"/>
            <a:ext cx="603504" cy="603504"/>
          </a:xfrm>
          <a:prstGeom prst="ellipse">
            <a:avLst/>
          </a:prstGeom>
          <a:solidFill>
            <a:srgbClr val="1FA89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6243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487168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Odor control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0" y="3163824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Activewear and everyday basics stay fresh through long wear.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9016" y="2194560"/>
            <a:ext cx="3621024" cy="1627632"/>
          </a:xfrm>
          <a:prstGeom prst="roundRect">
            <a:avLst>
              <a:gd name="adj" fmla="val 39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85048" y="2468880"/>
            <a:ext cx="603504" cy="603504"/>
          </a:xfrm>
          <a:prstGeom prst="ellipse">
            <a:avLst/>
          </a:prstGeom>
          <a:solidFill>
            <a:srgbClr val="1FA89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6243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16568" y="2487168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Mildew resistance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85048" y="3163824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Towels and bath textiles resist musty, damp odor.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4014216"/>
            <a:ext cx="3621024" cy="1627632"/>
          </a:xfrm>
          <a:prstGeom prst="roundRect">
            <a:avLst>
              <a:gd name="adj" fmla="val 39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8952" y="4288536"/>
            <a:ext cx="603504" cy="603504"/>
          </a:xfrm>
          <a:prstGeom prst="ellipse">
            <a:avLst/>
          </a:prstGeom>
          <a:solidFill>
            <a:srgbClr val="1FA89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4398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90472" y="430682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soft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58952" y="498348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to softness, drape, breathability or color.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15968" y="4014216"/>
            <a:ext cx="3621024" cy="1627632"/>
          </a:xfrm>
          <a:prstGeom prst="roundRect">
            <a:avLst>
              <a:gd name="adj" fmla="val 39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0" y="4288536"/>
            <a:ext cx="603504" cy="603504"/>
          </a:xfrm>
          <a:prstGeom prst="ellipse">
            <a:avLst/>
          </a:prstGeom>
          <a:solidFill>
            <a:srgbClr val="1FA89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443984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430682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 less, last longer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72000" y="498348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between washes means longer life and less waste.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9016" y="4014216"/>
            <a:ext cx="3621024" cy="1627632"/>
          </a:xfrm>
          <a:prstGeom prst="roundRect">
            <a:avLst>
              <a:gd name="adj" fmla="val 39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85048" y="4288536"/>
            <a:ext cx="603504" cy="603504"/>
          </a:xfrm>
          <a:prstGeom prst="ellipse">
            <a:avLst/>
          </a:prstGeom>
          <a:solidFill>
            <a:srgbClr val="1FA89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4443984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16568" y="430682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Activewear extras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85048" y="498348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UV defense and moisture-wicking on performance pieces.</a:t>
            </a:r>
            <a:endParaRPr lang="en-US" sz="1150" dirty="0"/>
          </a:p>
        </p:txBody>
      </p:sp>
      <p:pic>
        <p:nvPicPr>
          <p:cNvPr id="35" name="Image 6" descr="assets/fuze-logo-horizon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WITH CONFIDENCE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EPA registered — claim with confidence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carries federal EPA registration plus California EPA approval — so Quince can make substantiated antimicrobial and freshness claims, backed by our registration and third-party test reports.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94560"/>
            <a:ext cx="5486400" cy="530352"/>
          </a:xfrm>
          <a:prstGeom prst="rect">
            <a:avLst/>
          </a:prstGeom>
          <a:solidFill>
            <a:srgbClr val="1FA89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— ON EVERY PRODUCT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90779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834640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“Inhibits the growth of odor-causing bacteria”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3101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236976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“Stays fresher, longer — between washes”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71246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639312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“Resists mildew and musty odor”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11480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4041648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PFAS-free · non-toxic · OEKO-TEX certified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517136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4443984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“Durable freshness through 100 washes”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6263640" y="219456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6263640" y="2194560"/>
            <a:ext cx="5486400" cy="530352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0" name="Text 13"/>
          <p:cNvSpPr/>
          <p:nvPr/>
        </p:nvSpPr>
        <p:spPr>
          <a:xfrm>
            <a:off x="6537960" y="219456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 — EPA-BACKED</a:t>
            </a:r>
            <a:endParaRPr lang="en-US" sz="14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907792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2834640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“Antibacterial — built on an EPA-registered active”</a:t>
            </a:r>
            <a:endParaRPr lang="en-US" sz="12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3310128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03720" y="3236976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/ % bacterial reduction per AATCC 100 · ISO 20743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3712464"/>
            <a:ext cx="237744" cy="23774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03720" y="3639312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E2149 contact-kill efficacy data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4114800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903720" y="4041648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against odor &amp; bacteria on the fabric</a:t>
            </a:r>
            <a:endParaRPr lang="en-US" sz="12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248" y="4517136"/>
            <a:ext cx="237744" cy="237744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903720" y="4443984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lab reports provided to substantiate</a:t>
            </a:r>
            <a:endParaRPr lang="en-US" sz="1200" dirty="0"/>
          </a:p>
        </p:txBody>
      </p:sp>
      <p:sp>
        <p:nvSpPr>
          <p:cNvPr id="31" name="Shape 19"/>
          <p:cNvSpPr/>
          <p:nvPr/>
        </p:nvSpPr>
        <p:spPr>
          <a:xfrm>
            <a:off x="502920" y="5120640"/>
            <a:ext cx="11201400" cy="960120"/>
          </a:xfrm>
          <a:prstGeom prst="roundRect">
            <a:avLst>
              <a:gd name="adj" fmla="val 7619"/>
            </a:avLst>
          </a:prstGeom>
          <a:solidFill>
            <a:srgbClr val="12283A"/>
          </a:solidFill>
          <a:ln/>
        </p:spPr>
      </p:sp>
      <p:sp>
        <p:nvSpPr>
          <p:cNvPr id="32" name="Text 20"/>
          <p:cNvSpPr/>
          <p:nvPr/>
        </p:nvSpPr>
        <p:spPr>
          <a:xfrm>
            <a:off x="777240" y="5266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BACK THE CLAIMS</a:t>
            </a:r>
            <a:endParaRPr lang="en-US" sz="1050" dirty="0"/>
          </a:p>
        </p:txBody>
      </p:sp>
      <p:sp>
        <p:nvSpPr>
          <p:cNvPr id="33" name="Text 21"/>
          <p:cNvSpPr/>
          <p:nvPr/>
        </p:nvSpPr>
        <p:spPr>
          <a:xfrm>
            <a:off x="777240" y="55046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supplies the EPA registration documentation and third-party lab reports to substantiate every claim. The only area still needing product-specific registration is public-health disease-prevention claims (e.g. “prevents infection”).</a:t>
            </a:r>
            <a:endParaRPr lang="en-US" sz="1200" dirty="0"/>
          </a:p>
        </p:txBody>
      </p:sp>
      <p:pic>
        <p:nvPicPr>
          <p:cNvPr id="34" name="Image 10" descr="assets/fuze-logo-horizont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6" name="Text 23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by the brands setting the standard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FUZE-class antimicrobial technology is in testing, validation and use across leading performance and lifestyle brands.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95148" y="22860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148" y="22860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" name="Text 5"/>
          <p:cNvSpPr/>
          <p:nvPr/>
        </p:nvSpPr>
        <p:spPr>
          <a:xfrm>
            <a:off x="659740" y="22860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69718" y="22860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69718" y="22860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0" name="Text 8"/>
          <p:cNvSpPr/>
          <p:nvPr/>
        </p:nvSpPr>
        <p:spPr>
          <a:xfrm>
            <a:off x="2934310" y="22860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North Face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44288" y="22860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44288" y="22860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3" name="Text 11"/>
          <p:cNvSpPr/>
          <p:nvPr/>
        </p:nvSpPr>
        <p:spPr>
          <a:xfrm>
            <a:off x="5208880" y="22860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Patagonia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8858" y="22860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8858" y="22860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6" name="Text 14"/>
          <p:cNvSpPr/>
          <p:nvPr/>
        </p:nvSpPr>
        <p:spPr>
          <a:xfrm>
            <a:off x="7483450" y="22860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Canada Goose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93428" y="22860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93428" y="22860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9" name="Text 17"/>
          <p:cNvSpPr/>
          <p:nvPr/>
        </p:nvSpPr>
        <p:spPr>
          <a:xfrm>
            <a:off x="9758020" y="22860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Running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5148" y="32004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148" y="32004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2" name="Text 20"/>
          <p:cNvSpPr/>
          <p:nvPr/>
        </p:nvSpPr>
        <p:spPr>
          <a:xfrm>
            <a:off x="659740" y="32004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YETI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69718" y="32004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69718" y="32004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5" name="Text 23"/>
          <p:cNvSpPr/>
          <p:nvPr/>
        </p:nvSpPr>
        <p:spPr>
          <a:xfrm>
            <a:off x="2934310" y="32004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Helly Hansen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44288" y="32004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44288" y="32004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8" name="Text 26"/>
          <p:cNvSpPr/>
          <p:nvPr/>
        </p:nvSpPr>
        <p:spPr>
          <a:xfrm>
            <a:off x="5208880" y="32004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Marmot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8858" y="32004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8858" y="32004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31" name="Text 29"/>
          <p:cNvSpPr/>
          <p:nvPr/>
        </p:nvSpPr>
        <p:spPr>
          <a:xfrm>
            <a:off x="7483450" y="32004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Mammut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593428" y="32004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93428" y="32004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34" name="Text 32"/>
          <p:cNvSpPr/>
          <p:nvPr/>
        </p:nvSpPr>
        <p:spPr>
          <a:xfrm>
            <a:off x="9758020" y="32004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Marriott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632433" y="41148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32433" y="41148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37" name="Text 35"/>
          <p:cNvSpPr/>
          <p:nvPr/>
        </p:nvSpPr>
        <p:spPr>
          <a:xfrm>
            <a:off x="1797025" y="41148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Hilton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07003" y="41148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07003" y="41148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40" name="Text 38"/>
          <p:cNvSpPr/>
          <p:nvPr/>
        </p:nvSpPr>
        <p:spPr>
          <a:xfrm>
            <a:off x="4071595" y="41148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Bass Pro Shops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181573" y="41148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81573" y="41148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43" name="Text 41"/>
          <p:cNvSpPr/>
          <p:nvPr/>
        </p:nvSpPr>
        <p:spPr>
          <a:xfrm>
            <a:off x="6346165" y="41148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Welspun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456143" y="411480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56143" y="4114800"/>
            <a:ext cx="64008" cy="731520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46" name="Text 44"/>
          <p:cNvSpPr/>
          <p:nvPr/>
        </p:nvSpPr>
        <p:spPr>
          <a:xfrm>
            <a:off x="8620735" y="41148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Toray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active testing programs, validation batches and production adoption.</a:t>
            </a:r>
            <a:endParaRPr lang="en-US" sz="1000" dirty="0"/>
          </a:p>
        </p:txBody>
      </p:sp>
      <p:pic>
        <p:nvPicPr>
          <p:cNvPr id="48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simple path to launch — built for factory-direct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Quince controls its factory relationships, rolling out FUZE is fast and low-risk. No new equipment required.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2670048" cy="2377440"/>
          </a:xfrm>
          <a:prstGeom prst="roundRect">
            <a:avLst>
              <a:gd name="adj" fmla="val 3077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358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a category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hero category — bedding or activewear — to start.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72968" y="32461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64992" y="2514600"/>
            <a:ext cx="2670048" cy="2377440"/>
          </a:xfrm>
          <a:prstGeom prst="roundRect">
            <a:avLst>
              <a:gd name="adj" fmla="val 307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93592" y="30358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&amp; test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93592" y="3840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applied at your mill; efficacy third-party validated.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0" y="32461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227064" y="2514600"/>
            <a:ext cx="2670048" cy="2377440"/>
          </a:xfrm>
          <a:prstGeom prst="roundRect">
            <a:avLst>
              <a:gd name="adj" fmla="val 307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55664" y="30358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55664" y="3840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 FUZE-treated line with compliant freshness claims.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97112" y="32461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089136" y="2514600"/>
            <a:ext cx="2670048" cy="2377440"/>
          </a:xfrm>
          <a:prstGeom prst="roundRect">
            <a:avLst>
              <a:gd name="adj" fmla="val 307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17736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17736" y="30358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17736" y="3840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across the catalog as customer demand grows.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drops into the finishing your factory partners already run — exhaust, pad-dry-cure or spray.</a:t>
            </a:r>
            <a:endParaRPr lang="en-US" sz="1250" dirty="0"/>
          </a:p>
        </p:txBody>
      </p:sp>
      <p:pic>
        <p:nvPicPr>
          <p:cNvPr id="25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5D4"/>
          </a:solidFill>
          <a:ln/>
        </p:spPr>
      </p:sp>
      <p:pic>
        <p:nvPicPr>
          <p:cNvPr id="3" name="Image 0" descr="assets/fuze-icon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418320" y="594360"/>
            <a:ext cx="2926080" cy="2240280"/>
          </a:xfrm>
          <a:prstGeom prst="rect">
            <a:avLst/>
          </a:prstGeom>
        </p:spPr>
      </p:pic>
      <p:pic>
        <p:nvPicPr>
          <p:cNvPr id="4" name="Image 1" descr="assets/fuze-logo-horizontal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828800" cy="5577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make Quince essentials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fresh — longer.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22960" y="3611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We’d love to treat a Quince fabric, run the validation, and show your customers a benefit they can feel.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start with one category.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212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Peterson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Founder, FUZE Biotech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andrew@fuze47.com  ·  fuzeatlas.com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Quince  ·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FUZE Biotech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FUZE + Quince — Partnership Overview</dc:title>
  <dc:subject>PptxGenJS Presentation</dc:subject>
  <dc:creator>FUZE Biotech</dc:creator>
  <cp:lastModifiedBy>FUZE Biotech</cp:lastModifiedBy>
  <cp:revision>1</cp:revision>
  <dcterms:created xsi:type="dcterms:W3CDTF">2026-06-04T20:21:01Z</dcterms:created>
  <dcterms:modified xsi:type="dcterms:W3CDTF">2026-06-04T20:21:01Z</dcterms:modified>
</cp:coreProperties>
</file>