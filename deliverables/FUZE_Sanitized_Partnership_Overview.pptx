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8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3B5D4"/>
          </a:solidFill>
          <a:ln/>
        </p:spPr>
      </p:sp>
      <p:pic>
        <p:nvPicPr>
          <p:cNvPr id="3" name="Image 0" descr="assets/fuze-icon.png">    </p:cNvPr>
          <p:cNvPicPr>
            <a:picLocks noChangeAspect="1"/>
          </p:cNvPicPr>
          <p:nvPr/>
        </p:nvPicPr>
        <p:blipFill>
          <a:blip r:embed="rId1">
            <a:alphaModFix amt="14000"/>
          </a:blip>
          <a:stretch>
            <a:fillRect/>
          </a:stretch>
        </p:blipFill>
        <p:spPr>
          <a:xfrm>
            <a:off x="8869680" y="640080"/>
            <a:ext cx="3291840" cy="2523744"/>
          </a:xfrm>
          <a:prstGeom prst="rect">
            <a:avLst/>
          </a:prstGeom>
        </p:spPr>
      </p:pic>
      <p:pic>
        <p:nvPicPr>
          <p:cNvPr id="4" name="Image 1" descr="assets/fuze-logo-stacked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777240"/>
            <a:ext cx="1591056" cy="11887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22960" y="23317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3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TECHNOLOGY LICENSING OPPORTUNITY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777240" y="269748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the Future of</a:t>
            </a:r>
            <a:endParaRPr lang="en-US" sz="5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Functional Textiles</a:t>
            </a:r>
            <a:endParaRPr lang="en-US" sz="5000" dirty="0"/>
          </a:p>
        </p:txBody>
      </p:sp>
      <p:sp>
        <p:nvSpPr>
          <p:cNvPr id="7" name="Text 3"/>
          <p:cNvSpPr/>
          <p:nvPr/>
        </p:nvSpPr>
        <p:spPr>
          <a:xfrm>
            <a:off x="822960" y="452628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50" dirty="0">
                <a:solidFill>
                  <a:srgbClr val="C7D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strategic technology partnership between FUZE Biotech and Sanitized AG —</a:t>
            </a:r>
            <a:endParaRPr lang="en-US" sz="16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50" dirty="0">
                <a:solidFill>
                  <a:srgbClr val="C7D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 functionality for textiles and polymers, without legacy chemistry, beyond PFAS.</a:t>
            </a:r>
            <a:endParaRPr lang="en-US" sz="1650" dirty="0"/>
          </a:p>
        </p:txBody>
      </p:sp>
      <p:sp>
        <p:nvSpPr>
          <p:cNvPr id="8" name="Shape 4"/>
          <p:cNvSpPr/>
          <p:nvPr/>
        </p:nvSpPr>
        <p:spPr>
          <a:xfrm>
            <a:off x="822960" y="5532120"/>
            <a:ext cx="2743200" cy="0"/>
          </a:xfrm>
          <a:prstGeom prst="line">
            <a:avLst/>
          </a:prstGeom>
          <a:noFill/>
          <a:ln w="25400">
            <a:solidFill>
              <a:srgbClr val="1FA89E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22960" y="56692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the Sanitized executive team  ·  FUZE Biotech, Salt Lake City, USA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3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another antimicrobial additive — a new category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02920" y="1691640"/>
            <a:ext cx="6537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Sanitized has defined antimicrobial </a:t>
            </a:r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hygiene function</a:t>
            </a:r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90 years. FUZE adds the one thing leaching chemistries cannot: a patented, sole-source, non-leaching </a:t>
            </a:r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13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metamaterial</a:t>
            </a:r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durable, multi-functional performance engineered into the textile, safely and without PFAS.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315200" y="1783080"/>
            <a:ext cx="4389120" cy="1325880"/>
          </a:xfrm>
          <a:prstGeom prst="roundRect">
            <a:avLst>
              <a:gd name="adj" fmla="val 5517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71232" y="2075688"/>
            <a:ext cx="713232" cy="713232"/>
          </a:xfrm>
          <a:prstGeom prst="ellipse">
            <a:avLst/>
          </a:prstGeom>
          <a:solidFill>
            <a:srgbClr val="12283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35824" y="2240280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549640" y="198424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technology license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549640" y="235000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Worldwide rights to a platform no competitor can manufacture.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315200" y="3246120"/>
            <a:ext cx="4389120" cy="1325880"/>
          </a:xfrm>
          <a:prstGeom prst="roundRect">
            <a:avLst>
              <a:gd name="adj" fmla="val 5517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571232" y="3538728"/>
            <a:ext cx="713232" cy="713232"/>
          </a:xfrm>
          <a:prstGeom prst="ellipse">
            <a:avLst/>
          </a:prstGeom>
          <a:solidFill>
            <a:srgbClr val="12283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5824" y="3703320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549640" y="344728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Drops into existing lines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8549640" y="381304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finishing equipment — exhaust, pad-dry-cure, spray. No capex.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7315200" y="4709160"/>
            <a:ext cx="4389120" cy="1325880"/>
          </a:xfrm>
          <a:prstGeom prst="roundRect">
            <a:avLst>
              <a:gd name="adj" fmla="val 5517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571232" y="5001768"/>
            <a:ext cx="713232" cy="713232"/>
          </a:xfrm>
          <a:prstGeom prst="ellipse">
            <a:avLst/>
          </a:prstGeom>
          <a:solidFill>
            <a:srgbClr val="12283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5824" y="5166360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549640" y="491032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non-leaching category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549640" y="527608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the post-leaching shift: higher margin, defensible, sticky.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02920" y="5532120"/>
            <a:ext cx="6537960" cy="640080"/>
          </a:xfrm>
          <a:prstGeom prst="rect">
            <a:avLst/>
          </a:prstGeom>
          <a:solidFill>
            <a:srgbClr val="12283A"/>
          </a:solidFill>
          <a:ln/>
        </p:spPr>
      </p:sp>
      <p:sp>
        <p:nvSpPr>
          <p:cNvPr id="21" name="Text 16"/>
          <p:cNvSpPr/>
          <p:nvPr/>
        </p:nvSpPr>
        <p:spPr>
          <a:xfrm>
            <a:off x="685800" y="553212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C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are not offering Sanitized another antimicrobial additive — we are offering the non-leaching platform that extends its hygiene-function leadership into the next era.”</a:t>
            </a:r>
            <a:endParaRPr lang="en-US" sz="1100" dirty="0"/>
          </a:p>
        </p:txBody>
      </p:sp>
      <p:pic>
        <p:nvPicPr>
          <p:cNvPr id="22" name="Image 3" descr="assets/fuze-logo-horizont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6400800"/>
            <a:ext cx="1078992" cy="32918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937760" y="64190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24" name="Text 18"/>
          <p:cNvSpPr/>
          <p:nvPr/>
        </p:nvSpPr>
        <p:spPr>
          <a:xfrm>
            <a:off x="11338560" y="6400800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3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SANITIZED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ideal partner to commercialize FUZE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02920" y="15544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Sanitized has defined antimicrobial hygiene function for 90 years — a globally recognized ingredient brand across textiles, polymers and coatings, with the regulatory depth to bring a new platform to market.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2377440"/>
            <a:ext cx="3621024" cy="1298448"/>
          </a:xfrm>
          <a:prstGeom prst="roundRect">
            <a:avLst>
              <a:gd name="adj" fmla="val 4930"/>
            </a:avLst>
          </a:prstGeom>
          <a:solidFill>
            <a:srgbClr val="EEF6F9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377440"/>
            <a:ext cx="82296" cy="1298448"/>
          </a:xfrm>
          <a:prstGeom prst="rect">
            <a:avLst/>
          </a:prstGeom>
          <a:solidFill>
            <a:srgbClr val="13B5D4"/>
          </a:solidFill>
          <a:ln/>
        </p:spPr>
      </p:sp>
      <p:sp>
        <p:nvSpPr>
          <p:cNvPr id="7" name="Text 5"/>
          <p:cNvSpPr/>
          <p:nvPr/>
        </p:nvSpPr>
        <p:spPr>
          <a:xfrm>
            <a:off x="758952" y="2542032"/>
            <a:ext cx="31638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1935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777240" y="3154680"/>
            <a:ext cx="3163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· Burgdorf, Switzerland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15968" y="2377440"/>
            <a:ext cx="3621024" cy="1298448"/>
          </a:xfrm>
          <a:prstGeom prst="roundRect">
            <a:avLst>
              <a:gd name="adj" fmla="val 4930"/>
            </a:avLst>
          </a:prstGeom>
          <a:solidFill>
            <a:srgbClr val="EEF6F9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15968" y="2377440"/>
            <a:ext cx="82296" cy="1298448"/>
          </a:xfrm>
          <a:prstGeom prst="rect">
            <a:avLst/>
          </a:prstGeom>
          <a:solidFill>
            <a:srgbClr val="13B5D4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2542032"/>
            <a:ext cx="31638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90+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4590288" y="3154680"/>
            <a:ext cx="3163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in antimicrobial hygiene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29016" y="2377440"/>
            <a:ext cx="3621024" cy="1298448"/>
          </a:xfrm>
          <a:prstGeom prst="roundRect">
            <a:avLst>
              <a:gd name="adj" fmla="val 4930"/>
            </a:avLst>
          </a:prstGeom>
          <a:solidFill>
            <a:srgbClr val="EEF6F9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29016" y="2377440"/>
            <a:ext cx="82296" cy="1298448"/>
          </a:xfrm>
          <a:prstGeom prst="rect">
            <a:avLst/>
          </a:prstGeom>
          <a:solidFill>
            <a:srgbClr val="13B5D4"/>
          </a:solidFill>
          <a:ln/>
        </p:spPr>
      </p:sp>
      <p:sp>
        <p:nvSpPr>
          <p:cNvPr id="15" name="Text 13"/>
          <p:cNvSpPr/>
          <p:nvPr/>
        </p:nvSpPr>
        <p:spPr>
          <a:xfrm>
            <a:off x="8385048" y="2542032"/>
            <a:ext cx="31638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4th</a:t>
            </a:r>
            <a:endParaRPr lang="en-US" sz="3300" dirty="0"/>
          </a:p>
        </p:txBody>
      </p:sp>
      <p:sp>
        <p:nvSpPr>
          <p:cNvPr id="16" name="Text 14"/>
          <p:cNvSpPr/>
          <p:nvPr/>
        </p:nvSpPr>
        <p:spPr>
          <a:xfrm>
            <a:off x="8403336" y="3154680"/>
            <a:ext cx="3163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generation, family-owned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3867912"/>
            <a:ext cx="3621024" cy="1298448"/>
          </a:xfrm>
          <a:prstGeom prst="roundRect">
            <a:avLst>
              <a:gd name="adj" fmla="val 4930"/>
            </a:avLst>
          </a:prstGeom>
          <a:solidFill>
            <a:srgbClr val="EEF6F9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3867912"/>
            <a:ext cx="82296" cy="1298448"/>
          </a:xfrm>
          <a:prstGeom prst="rect">
            <a:avLst/>
          </a:prstGeom>
          <a:solidFill>
            <a:srgbClr val="13B5D4"/>
          </a:solidFill>
          <a:ln/>
        </p:spPr>
      </p:sp>
      <p:sp>
        <p:nvSpPr>
          <p:cNvPr id="19" name="Text 17"/>
          <p:cNvSpPr/>
          <p:nvPr/>
        </p:nvSpPr>
        <p:spPr>
          <a:xfrm>
            <a:off x="758952" y="4032504"/>
            <a:ext cx="31638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300" dirty="0"/>
          </a:p>
        </p:txBody>
      </p:sp>
      <p:sp>
        <p:nvSpPr>
          <p:cNvPr id="20" name="Text 18"/>
          <p:cNvSpPr/>
          <p:nvPr/>
        </p:nvSpPr>
        <p:spPr>
          <a:xfrm>
            <a:off x="777240" y="4645152"/>
            <a:ext cx="3163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markets · textiles · polymers · coatings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315968" y="3867912"/>
            <a:ext cx="3621024" cy="1298448"/>
          </a:xfrm>
          <a:prstGeom prst="roundRect">
            <a:avLst>
              <a:gd name="adj" fmla="val 4930"/>
            </a:avLst>
          </a:prstGeom>
          <a:solidFill>
            <a:srgbClr val="EEF6F9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15968" y="3867912"/>
            <a:ext cx="82296" cy="1298448"/>
          </a:xfrm>
          <a:prstGeom prst="rect">
            <a:avLst/>
          </a:prstGeom>
          <a:solidFill>
            <a:srgbClr val="13B5D4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0" y="4032504"/>
            <a:ext cx="31638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300" dirty="0"/>
          </a:p>
        </p:txBody>
      </p:sp>
      <p:sp>
        <p:nvSpPr>
          <p:cNvPr id="24" name="Text 22"/>
          <p:cNvSpPr/>
          <p:nvPr/>
        </p:nvSpPr>
        <p:spPr>
          <a:xfrm>
            <a:off x="4590288" y="4645152"/>
            <a:ext cx="3163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subsidiaries · CH · CN · IN · US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129016" y="3867912"/>
            <a:ext cx="3621024" cy="1298448"/>
          </a:xfrm>
          <a:prstGeom prst="roundRect">
            <a:avLst>
              <a:gd name="adj" fmla="val 4930"/>
            </a:avLst>
          </a:prstGeom>
          <a:solidFill>
            <a:srgbClr val="EEF6F9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29016" y="3867912"/>
            <a:ext cx="82296" cy="1298448"/>
          </a:xfrm>
          <a:prstGeom prst="rect">
            <a:avLst/>
          </a:prstGeom>
          <a:solidFill>
            <a:srgbClr val="13B5D4"/>
          </a:solidFill>
          <a:ln/>
        </p:spPr>
      </p:sp>
      <p:sp>
        <p:nvSpPr>
          <p:cNvPr id="27" name="Text 25"/>
          <p:cNvSpPr/>
          <p:nvPr/>
        </p:nvSpPr>
        <p:spPr>
          <a:xfrm>
            <a:off x="8385048" y="4032504"/>
            <a:ext cx="31638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Global</a:t>
            </a:r>
            <a:endParaRPr lang="en-US" sz="3300" dirty="0"/>
          </a:p>
        </p:txBody>
      </p:sp>
      <p:sp>
        <p:nvSpPr>
          <p:cNvPr id="28" name="Text 26"/>
          <p:cNvSpPr/>
          <p:nvPr/>
        </p:nvSpPr>
        <p:spPr>
          <a:xfrm>
            <a:off x="8403336" y="4645152"/>
            <a:ext cx="3163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Sanitized® ingredient brand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02920" y="544068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the trusted name in textile hygiene function.  </a:t>
            </a:r>
            <a:pPr algn="ctr" indent="0" marL="0">
              <a:buNone/>
            </a:pPr>
            <a:r>
              <a:rPr lang="en-US" sz="1500" b="1" dirty="0">
                <a:solidFill>
                  <a:srgbClr val="1F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FUZE is the non-leaching platform to lead what comes next.</a:t>
            </a:r>
            <a:endParaRPr lang="en-US" sz="1500" dirty="0"/>
          </a:p>
        </p:txBody>
      </p:sp>
      <p:pic>
        <p:nvPicPr>
          <p:cNvPr id="30" name="Image 0" descr="assets/fuze-logo-horizont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400800"/>
            <a:ext cx="1078992" cy="329184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4937760" y="64190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11338560" y="6400800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3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FUZE WINS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pillars where FUZE beats every competitor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54864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8E5EB"/>
            </a:solidFill>
            <a:prstDash val="solid"/>
          </a:ln>
          <a:effectLst>
            <a:outerShdw sx="100000" sy="100000" kx="0" ky="0" algn="bl" rotWithShape="0" blurRad="114300" dist="38100" dir="8100000">
              <a:srgbClr val="0B1C2B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12848"/>
            <a:ext cx="914400" cy="914400"/>
          </a:xfrm>
          <a:prstGeom prst="ellipse">
            <a:avLst/>
          </a:prstGeom>
          <a:solidFill>
            <a:srgbClr val="12283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441448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200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B5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920240" y="21945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Safety &amp; Zero Toxicity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920240" y="269748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Non-leaching, baby-safe, EPA-registered, PFAS-free. Nothing released into skin or wash water.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63640" y="1828800"/>
            <a:ext cx="54864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8E5EB"/>
            </a:solidFill>
            <a:prstDash val="solid"/>
          </a:ln>
          <a:effectLst>
            <a:outerShdw sx="100000" sy="100000" kx="0" ky="0" algn="bl" rotWithShape="0" blurRad="114300" dist="38100" dir="8100000">
              <a:srgbClr val="0B1C2B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83680" y="2212848"/>
            <a:ext cx="914400" cy="914400"/>
          </a:xfrm>
          <a:prstGeom prst="ellipse">
            <a:avLst/>
          </a:prstGeom>
          <a:solidFill>
            <a:srgbClr val="12283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2441448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583680" y="3200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B5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7680960" y="21945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Sustainability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7680960" y="269748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at parts-per-million. No binders, no PFAS, circular feedstock, drop-in process.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02920" y="4160520"/>
            <a:ext cx="54864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8E5EB"/>
            </a:solidFill>
            <a:prstDash val="solid"/>
          </a:ln>
          <a:effectLst>
            <a:outerShdw sx="100000" sy="100000" kx="0" ky="0" algn="bl" rotWithShape="0" blurRad="114300" dist="38100" dir="8100000">
              <a:srgbClr val="0B1C2B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2960" y="4544568"/>
            <a:ext cx="914400" cy="914400"/>
          </a:xfrm>
          <a:prstGeom prst="ellipse">
            <a:avLst/>
          </a:prstGeom>
          <a:solidFill>
            <a:srgbClr val="12283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4773168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2960" y="5532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B5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1920240" y="45262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Unmatched IP &amp; Supply</a:t>
            </a:r>
            <a:endParaRPr lang="en-US" sz="1900" dirty="0"/>
          </a:p>
        </p:txBody>
      </p:sp>
      <p:sp>
        <p:nvSpPr>
          <p:cNvPr id="21" name="Text 16"/>
          <p:cNvSpPr/>
          <p:nvPr/>
        </p:nvSpPr>
        <p:spPr>
          <a:xfrm>
            <a:off x="1920240" y="502920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worldwide patents. Sole-source global manufacturer. No competitor can make the molecule.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6263640" y="4160520"/>
            <a:ext cx="54864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8E5EB"/>
            </a:solidFill>
            <a:prstDash val="solid"/>
          </a:ln>
          <a:effectLst>
            <a:outerShdw sx="100000" sy="100000" kx="0" ky="0" algn="bl" rotWithShape="0" blurRad="114300" dist="38100" dir="8100000">
              <a:srgbClr val="0B1C2B">
                <a:alpha val="16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583680" y="4544568"/>
            <a:ext cx="914400" cy="914400"/>
          </a:xfrm>
          <a:prstGeom prst="ellipse">
            <a:avLst/>
          </a:prstGeom>
          <a:solidFill>
            <a:srgbClr val="12283A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4773168"/>
            <a:ext cx="457200" cy="4572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583680" y="5532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B5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7680960" y="45262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 Platform</a:t>
            </a:r>
            <a:endParaRPr lang="en-US" sz="1900" dirty="0"/>
          </a:p>
        </p:txBody>
      </p:sp>
      <p:sp>
        <p:nvSpPr>
          <p:cNvPr id="27" name="Text 21"/>
          <p:cNvSpPr/>
          <p:nvPr/>
        </p:nvSpPr>
        <p:spPr>
          <a:xfrm>
            <a:off x="7680960" y="502920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beyond antimicrobial — anti-odor, UV, moisture-wicking, IR heat management.</a:t>
            </a:r>
            <a:endParaRPr lang="en-US" sz="1300" dirty="0"/>
          </a:p>
        </p:txBody>
      </p:sp>
      <p:pic>
        <p:nvPicPr>
          <p:cNvPr id="28" name="Image 4" descr="assets/fuze-logo-horizont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6400800"/>
            <a:ext cx="1078992" cy="32918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4937760" y="64190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30" name="Text 23"/>
          <p:cNvSpPr/>
          <p:nvPr/>
        </p:nvSpPr>
        <p:spPr>
          <a:xfrm>
            <a:off x="11338560" y="6400800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12283A"/>
          </a:solidFill>
          <a:ln w="19050">
            <a:solidFill>
              <a:srgbClr val="13B5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B5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07008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3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ONE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207008" y="71323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Safety &amp; Zero Toxicity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02920" y="1554480"/>
            <a:ext cx="6126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FUZE is non-leaching by design. Its metamaterial bonds permanently into the fiber surface and kills on contact — so nothing migrates into skin, garments, or wash water. That is the opposite of leaching silver-ion, zinc and quaternary chemistries.</a:t>
            </a:r>
            <a:endParaRPr lang="en-US" sz="15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081528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026664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OEKO-TEX Standard 100 Class I — certified safe for baby &amp; infant products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538728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96112" y="3483864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bluesign® approved system partner</a:t>
            </a:r>
            <a:endParaRPr lang="en-US" sz="13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995928"/>
            <a:ext cx="237744" cy="23774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96112" y="3941064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EPA registered (federal) + California EPA approved (Q1 2026)</a:t>
            </a:r>
            <a:endParaRPr lang="en-US" sz="13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453128"/>
            <a:ext cx="237744" cy="23774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96112" y="4398264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PFAS-free — no fluorochemistry, ever</a:t>
            </a:r>
            <a:endParaRPr lang="en-US" sz="13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910328"/>
            <a:ext cx="237744" cy="23774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96112" y="4855464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formaldehyde, no binder resins, no heavy-metal carriers</a:t>
            </a:r>
            <a:endParaRPr lang="en-US" sz="130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5367528"/>
            <a:ext cx="237744" cy="237744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96112" y="5312664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for direct, prolonged skin contact incl. sensitive skin</a:t>
            </a:r>
            <a:endParaRPr lang="en-US" sz="1300" dirty="0"/>
          </a:p>
        </p:txBody>
      </p:sp>
      <p:sp>
        <p:nvSpPr>
          <p:cNvPr id="19" name="Shape 11"/>
          <p:cNvSpPr/>
          <p:nvPr/>
        </p:nvSpPr>
        <p:spPr>
          <a:xfrm>
            <a:off x="7086600" y="1554480"/>
            <a:ext cx="4617720" cy="4480560"/>
          </a:xfrm>
          <a:prstGeom prst="roundRect">
            <a:avLst>
              <a:gd name="adj" fmla="val 2041"/>
            </a:avLst>
          </a:prstGeom>
          <a:solidFill>
            <a:srgbClr val="12283A"/>
          </a:solidFill>
          <a:ln/>
        </p:spPr>
      </p:sp>
      <p:sp>
        <p:nvSpPr>
          <p:cNvPr id="20" name="Text 12"/>
          <p:cNvSpPr/>
          <p:nvPr/>
        </p:nvSpPr>
        <p:spPr>
          <a:xfrm>
            <a:off x="7406640" y="18288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3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 TO NON-LEACHING</a:t>
            </a:r>
            <a:endParaRPr lang="en-US" sz="1200" dirty="0"/>
          </a:p>
        </p:txBody>
      </p:sp>
      <p:sp>
        <p:nvSpPr>
          <p:cNvPr id="21" name="Text 13"/>
          <p:cNvSpPr/>
          <p:nvPr/>
        </p:nvSpPr>
        <p:spPr>
          <a:xfrm>
            <a:off x="7406640" y="2240280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Leaching actives — the current standard
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AF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Silver-ion, zinc and QAC release ions to kill — those ions migrate into skin and wastewater, deplete with each wash, and face tightening biocide scrutiny.</a:t>
            </a:r>
            <a:endParaRPr lang="en-US" sz="1250" dirty="0"/>
          </a:p>
        </p:txBody>
      </p:sp>
      <p:sp>
        <p:nvSpPr>
          <p:cNvPr id="22" name="Shape 14"/>
          <p:cNvSpPr/>
          <p:nvPr/>
        </p:nvSpPr>
        <p:spPr>
          <a:xfrm>
            <a:off x="7406640" y="3657600"/>
            <a:ext cx="4023360" cy="0"/>
          </a:xfrm>
          <a:prstGeom prst="line">
            <a:avLst/>
          </a:prstGeom>
          <a:noFill/>
          <a:ln w="12700">
            <a:solidFill>
              <a:srgbClr val="2C4A5E"/>
            </a:solidFill>
            <a:prstDash val="solid"/>
          </a:ln>
        </p:spPr>
      </p:sp>
      <p:sp>
        <p:nvSpPr>
          <p:cNvPr id="23" name="Text 15"/>
          <p:cNvSpPr/>
          <p:nvPr/>
        </p:nvSpPr>
        <p:spPr>
          <a:xfrm>
            <a:off x="7406640" y="384048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FUZE metamaterial
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9F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Permanently bonded, kills on physical contact. Nothing leaches — so it stays safe and stays put through 100 washes.</a:t>
            </a:r>
            <a:endParaRPr lang="en-US" sz="1350" dirty="0"/>
          </a:p>
        </p:txBody>
      </p:sp>
      <p:sp>
        <p:nvSpPr>
          <p:cNvPr id="24" name="Text 16"/>
          <p:cNvSpPr/>
          <p:nvPr/>
        </p:nvSpPr>
        <p:spPr>
          <a:xfrm>
            <a:off x="7406640" y="54406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9B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result: a finish you can put on a newborn's onesie.</a:t>
            </a:r>
            <a:endParaRPr lang="en-US" sz="1250" dirty="0"/>
          </a:p>
        </p:txBody>
      </p:sp>
      <p:pic>
        <p:nvPicPr>
          <p:cNvPr id="25" name="Image 6" descr="assets/fuze-logo-horizonta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6400800"/>
            <a:ext cx="1078992" cy="329184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4937760" y="64190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27" name="Text 18"/>
          <p:cNvSpPr/>
          <p:nvPr/>
        </p:nvSpPr>
        <p:spPr>
          <a:xfrm>
            <a:off x="11338560" y="6400800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12283A"/>
          </a:solidFill>
          <a:ln w="19050">
            <a:solidFill>
              <a:srgbClr val="13B5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B5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07008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3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TWO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207008" y="71323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Sustainability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FUZE is one of the lowest-impact functional finishes in the industry — and the feedstock itself is circular.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2194560"/>
            <a:ext cx="3621024" cy="1371600"/>
          </a:xfrm>
          <a:prstGeom prst="roundRect">
            <a:avLst>
              <a:gd name="adj" fmla="val 4667"/>
            </a:avLst>
          </a:prstGeom>
          <a:solidFill>
            <a:srgbClr val="EEF6F9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23317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A8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0.25–1.0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77240" y="2944368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mg/kg active loading on fabric — F4 to F1 (registered max)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15968" y="2194560"/>
            <a:ext cx="3621024" cy="1371600"/>
          </a:xfrm>
          <a:prstGeom prst="roundRect">
            <a:avLst>
              <a:gd name="adj" fmla="val 4667"/>
            </a:avLst>
          </a:prstGeom>
          <a:solidFill>
            <a:srgbClr val="EEF6F9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23317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A8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590288" y="2944368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PFAS · binders · curing chemistry burden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29016" y="2194560"/>
            <a:ext cx="3621024" cy="1371600"/>
          </a:xfrm>
          <a:prstGeom prst="roundRect">
            <a:avLst>
              <a:gd name="adj" fmla="val 4667"/>
            </a:avLst>
          </a:prstGeom>
          <a:solidFill>
            <a:srgbClr val="EEF6F9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85048" y="23317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A8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403336" y="2944368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feedstock — laser-synthesized from recycled metals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3840480"/>
            <a:ext cx="640080" cy="640080"/>
          </a:xfrm>
          <a:prstGeom prst="ellipse">
            <a:avLst/>
          </a:prstGeom>
          <a:solidFill>
            <a:srgbClr val="EEF6F9"/>
          </a:solidFill>
          <a:ln w="15875">
            <a:solidFill>
              <a:srgbClr val="1FA89E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4005072"/>
            <a:ext cx="310896" cy="310896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325880" y="382219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by design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1325880" y="4169664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Metamaterial is laser-synthesized from recycled electronics — waste becomes performance.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217920" y="3840480"/>
            <a:ext cx="640080" cy="640080"/>
          </a:xfrm>
          <a:prstGeom prst="ellipse">
            <a:avLst/>
          </a:prstGeom>
          <a:solidFill>
            <a:srgbClr val="EEF6F9"/>
          </a:solidFill>
          <a:ln w="15875">
            <a:solidFill>
              <a:srgbClr val="1FA89E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12" y="4005072"/>
            <a:ext cx="310896" cy="310896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040880" y="382219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Low-energy, solar-capable production</a:t>
            </a:r>
            <a:endParaRPr lang="en-US" sz="1450" dirty="0"/>
          </a:p>
        </p:txBody>
      </p:sp>
      <p:sp>
        <p:nvSpPr>
          <p:cNvPr id="23" name="Text 19"/>
          <p:cNvSpPr/>
          <p:nvPr/>
        </p:nvSpPr>
        <p:spPr>
          <a:xfrm>
            <a:off x="7040880" y="4169664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 laser ablation runs on a 1 m² table; production can be solar-powered.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502920" y="4937760"/>
            <a:ext cx="640080" cy="640080"/>
          </a:xfrm>
          <a:prstGeom prst="ellipse">
            <a:avLst/>
          </a:prstGeom>
          <a:solidFill>
            <a:srgbClr val="EEF6F9"/>
          </a:solidFill>
          <a:ln w="15875">
            <a:solidFill>
              <a:srgbClr val="1FA89E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5102352"/>
            <a:ext cx="310896" cy="310896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325880" y="491947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water &amp; wastewater impact</a:t>
            </a:r>
            <a:endParaRPr lang="en-US" sz="1450" dirty="0"/>
          </a:p>
        </p:txBody>
      </p:sp>
      <p:sp>
        <p:nvSpPr>
          <p:cNvPr id="27" name="Text 22"/>
          <p:cNvSpPr/>
          <p:nvPr/>
        </p:nvSpPr>
        <p:spPr>
          <a:xfrm>
            <a:off x="1325880" y="5266944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residual concentrations sit well below regulatory limits; nothing leaches out.</a:t>
            </a:r>
            <a:endParaRPr lang="en-US" sz="1150" dirty="0"/>
          </a:p>
        </p:txBody>
      </p:sp>
      <p:sp>
        <p:nvSpPr>
          <p:cNvPr id="28" name="Shape 23"/>
          <p:cNvSpPr/>
          <p:nvPr/>
        </p:nvSpPr>
        <p:spPr>
          <a:xfrm>
            <a:off x="6217920" y="4937760"/>
            <a:ext cx="640080" cy="640080"/>
          </a:xfrm>
          <a:prstGeom prst="ellipse">
            <a:avLst/>
          </a:prstGeom>
          <a:solidFill>
            <a:srgbClr val="EEF6F9"/>
          </a:solidFill>
          <a:ln w="15875">
            <a:solidFill>
              <a:srgbClr val="1FA89E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2512" y="5102352"/>
            <a:ext cx="310896" cy="310896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040880" y="491947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product life</a:t>
            </a:r>
            <a:endParaRPr lang="en-US" sz="1450" dirty="0"/>
          </a:p>
        </p:txBody>
      </p:sp>
      <p:sp>
        <p:nvSpPr>
          <p:cNvPr id="31" name="Text 25"/>
          <p:cNvSpPr/>
          <p:nvPr/>
        </p:nvSpPr>
        <p:spPr>
          <a:xfrm>
            <a:off x="7040880" y="5266944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 odor &amp; microbial control means garments last longer — less textile waste.</a:t>
            </a:r>
            <a:endParaRPr lang="en-US" sz="1150" dirty="0"/>
          </a:p>
        </p:txBody>
      </p:sp>
      <p:pic>
        <p:nvPicPr>
          <p:cNvPr id="32" name="Image 4" descr="assets/fuze-logo-horizont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6400800"/>
            <a:ext cx="1078992" cy="329184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4937760" y="64190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34" name="Text 27"/>
          <p:cNvSpPr/>
          <p:nvPr/>
        </p:nvSpPr>
        <p:spPr>
          <a:xfrm>
            <a:off x="11338560" y="6400800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28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fuze-icon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9509760" y="4297680"/>
            <a:ext cx="2743200" cy="21031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B1C2B"/>
          </a:solidFill>
          <a:ln w="19050">
            <a:solidFill>
              <a:srgbClr val="13B5D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B5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207008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3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THREE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207008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Unmatched IP &amp; Sole-Source Supply</a:t>
            </a:r>
            <a:endParaRPr lang="en-US" sz="3100" dirty="0"/>
          </a:p>
        </p:txBody>
      </p:sp>
      <p:sp>
        <p:nvSpPr>
          <p:cNvPr id="7" name="Text 4"/>
          <p:cNvSpPr/>
          <p:nvPr/>
        </p:nvSpPr>
        <p:spPr>
          <a:xfrm>
            <a:off x="502920" y="1554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C7D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Competitors can copy a marketing claim. They cannot make the molecule. FUZE owns the chemistry, the method, and the only production line on earth.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502920" y="2468880"/>
            <a:ext cx="3621024" cy="2788920"/>
          </a:xfrm>
          <a:prstGeom prst="roundRect">
            <a:avLst>
              <a:gd name="adj" fmla="val 2951"/>
            </a:avLst>
          </a:prstGeom>
          <a:solidFill>
            <a:srgbClr val="163145"/>
          </a:solidFill>
          <a:ln w="12700">
            <a:solidFill>
              <a:srgbClr val="27465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26974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13B5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58</a:t>
            </a:r>
            <a:endParaRPr lang="en-US" sz="5000" dirty="0"/>
          </a:p>
        </p:txBody>
      </p:sp>
      <p:sp>
        <p:nvSpPr>
          <p:cNvPr id="10" name="Text 7"/>
          <p:cNvSpPr/>
          <p:nvPr/>
        </p:nvSpPr>
        <p:spPr>
          <a:xfrm>
            <a:off x="795528" y="36576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WORLDWIDE PATENTS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95528" y="4224528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9FB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Issued &amp; pending across the metamaterial, its synthesis, and its application.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315968" y="2468880"/>
            <a:ext cx="3621024" cy="2788920"/>
          </a:xfrm>
          <a:prstGeom prst="roundRect">
            <a:avLst>
              <a:gd name="adj" fmla="val 2951"/>
            </a:avLst>
          </a:prstGeom>
          <a:solidFill>
            <a:srgbClr val="163145"/>
          </a:solidFill>
          <a:ln w="12700">
            <a:solidFill>
              <a:srgbClr val="27465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90288" y="26974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13B5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of 1</a:t>
            </a:r>
            <a:endParaRPr lang="en-US" sz="5000" dirty="0"/>
          </a:p>
        </p:txBody>
      </p:sp>
      <p:sp>
        <p:nvSpPr>
          <p:cNvPr id="14" name="Text 11"/>
          <p:cNvSpPr/>
          <p:nvPr/>
        </p:nvSpPr>
        <p:spPr>
          <a:xfrm>
            <a:off x="4608576" y="36576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SOLE-SOURCE MANUFACTURER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608576" y="4224528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9FB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FUZE is the only producer worldwide — proprietary liquid laser ablation.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129016" y="2468880"/>
            <a:ext cx="3621024" cy="2788920"/>
          </a:xfrm>
          <a:prstGeom prst="roundRect">
            <a:avLst>
              <a:gd name="adj" fmla="val 2951"/>
            </a:avLst>
          </a:prstGeom>
          <a:solidFill>
            <a:srgbClr val="163145"/>
          </a:solidFill>
          <a:ln w="12700">
            <a:solidFill>
              <a:srgbClr val="27465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403336" y="26974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13B5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5000" dirty="0"/>
          </a:p>
        </p:txBody>
      </p:sp>
      <p:sp>
        <p:nvSpPr>
          <p:cNvPr id="18" name="Text 15"/>
          <p:cNvSpPr/>
          <p:nvPr/>
        </p:nvSpPr>
        <p:spPr>
          <a:xfrm>
            <a:off x="8421624" y="36576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SUBSTITUTES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421624" y="4224528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9FB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competitor can replicate the high-density allotrope. The moat is the material.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02920" y="55321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7D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Sanitized this means one thing:  </a:t>
            </a:r>
            <a:pPr algn="ctr" indent="0" marL="0">
              <a:buNone/>
            </a:pPr>
            <a:r>
              <a:rPr lang="en-US" sz="1500" b="1" dirty="0">
                <a:solidFill>
                  <a:srgbClr val="E9B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global license to a platform no rival can source or undercut.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12283A"/>
          </a:solidFill>
          <a:ln w="19050">
            <a:solidFill>
              <a:srgbClr val="13B5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B5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07008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3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FOUR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207008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 Beyond Antimicrobial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Antimicrobial protection is the entry point. The same engineered surface unlocks a full stack of functional performance — one platform, many product categories.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2240280"/>
            <a:ext cx="3621024" cy="1554480"/>
          </a:xfrm>
          <a:prstGeom prst="roundRect">
            <a:avLst>
              <a:gd name="adj" fmla="val 4118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8952" y="2496312"/>
            <a:ext cx="603504" cy="603504"/>
          </a:xfrm>
          <a:prstGeom prst="ellipse">
            <a:avLst/>
          </a:prstGeom>
          <a:solidFill>
            <a:srgbClr val="12283A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651760"/>
            <a:ext cx="292608" cy="29260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90472" y="2514600"/>
            <a:ext cx="2432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Antimicrobial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58952" y="3172968"/>
            <a:ext cx="3118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Contact-kill on bacteria incl. MRSA, E. coli, K. pneumoniae — non-leaching.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315968" y="2240280"/>
            <a:ext cx="3621024" cy="1554480"/>
          </a:xfrm>
          <a:prstGeom prst="roundRect">
            <a:avLst>
              <a:gd name="adj" fmla="val 4118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72000" y="2496312"/>
            <a:ext cx="603504" cy="603504"/>
          </a:xfrm>
          <a:prstGeom prst="ellipse">
            <a:avLst/>
          </a:prstGeom>
          <a:solidFill>
            <a:srgbClr val="12283A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448" y="2651760"/>
            <a:ext cx="292608" cy="2926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03520" y="2514600"/>
            <a:ext cx="2432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Anti-Odor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4572000" y="3172968"/>
            <a:ext cx="3118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Neutralizes Moraxella before malodor forms — ideal for activewear &amp; hospitality.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8129016" y="2240280"/>
            <a:ext cx="3621024" cy="1554480"/>
          </a:xfrm>
          <a:prstGeom prst="roundRect">
            <a:avLst>
              <a:gd name="adj" fmla="val 4118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385048" y="2496312"/>
            <a:ext cx="603504" cy="603504"/>
          </a:xfrm>
          <a:prstGeom prst="ellipse">
            <a:avLst/>
          </a:prstGeom>
          <a:solidFill>
            <a:srgbClr val="12283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0496" y="2651760"/>
            <a:ext cx="292608" cy="29260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116568" y="2514600"/>
            <a:ext cx="2432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Antifungal &amp; Antiviral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8385048" y="3172968"/>
            <a:ext cx="3118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AATCC 30 antifungal; ISO 18184 antiviral on F1/F2 tiers.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502920" y="3986784"/>
            <a:ext cx="3621024" cy="1554480"/>
          </a:xfrm>
          <a:prstGeom prst="roundRect">
            <a:avLst>
              <a:gd name="adj" fmla="val 4118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58952" y="4242816"/>
            <a:ext cx="603504" cy="603504"/>
          </a:xfrm>
          <a:prstGeom prst="ellipse">
            <a:avLst/>
          </a:prstGeom>
          <a:solidFill>
            <a:srgbClr val="12283A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398264"/>
            <a:ext cx="292608" cy="29260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490472" y="4261104"/>
            <a:ext cx="2432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 Protection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758952" y="4919472"/>
            <a:ext cx="3118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surface adds measurable UV defense to apparel &amp; technical textiles.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4315968" y="3986784"/>
            <a:ext cx="3621024" cy="1554480"/>
          </a:xfrm>
          <a:prstGeom prst="roundRect">
            <a:avLst>
              <a:gd name="adj" fmla="val 4118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4572000" y="4242816"/>
            <a:ext cx="603504" cy="603504"/>
          </a:xfrm>
          <a:prstGeom prst="ellipse">
            <a:avLst/>
          </a:prstGeom>
          <a:solidFill>
            <a:srgbClr val="12283A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7448" y="4398264"/>
            <a:ext cx="292608" cy="29260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303520" y="4261104"/>
            <a:ext cx="2432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Moisture-Wicking Enhancement</a:t>
            </a:r>
            <a:endParaRPr lang="en-US" sz="1400" dirty="0"/>
          </a:p>
        </p:txBody>
      </p:sp>
      <p:sp>
        <p:nvSpPr>
          <p:cNvPr id="31" name="Text 24"/>
          <p:cNvSpPr/>
          <p:nvPr/>
        </p:nvSpPr>
        <p:spPr>
          <a:xfrm>
            <a:off x="4572000" y="4919472"/>
            <a:ext cx="3118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moisture management and quick-dry behavior on synthetics.</a:t>
            </a:r>
            <a:endParaRPr lang="en-US" sz="1100" dirty="0"/>
          </a:p>
        </p:txBody>
      </p:sp>
      <p:sp>
        <p:nvSpPr>
          <p:cNvPr id="32" name="Shape 25"/>
          <p:cNvSpPr/>
          <p:nvPr/>
        </p:nvSpPr>
        <p:spPr>
          <a:xfrm>
            <a:off x="8129016" y="3986784"/>
            <a:ext cx="3621024" cy="1554480"/>
          </a:xfrm>
          <a:prstGeom prst="roundRect">
            <a:avLst>
              <a:gd name="adj" fmla="val 4118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8385048" y="4242816"/>
            <a:ext cx="603504" cy="603504"/>
          </a:xfrm>
          <a:prstGeom prst="ellipse">
            <a:avLst/>
          </a:prstGeom>
          <a:solidFill>
            <a:srgbClr val="12283A"/>
          </a:solidFill>
          <a:ln/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0496" y="4398264"/>
            <a:ext cx="292608" cy="292608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9116568" y="4261104"/>
            <a:ext cx="2432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/ Radiant-Heat Management</a:t>
            </a:r>
            <a:endParaRPr lang="en-US" sz="1400" dirty="0"/>
          </a:p>
        </p:txBody>
      </p:sp>
      <p:sp>
        <p:nvSpPr>
          <p:cNvPr id="36" name="Text 28"/>
          <p:cNvSpPr/>
          <p:nvPr/>
        </p:nvSpPr>
        <p:spPr>
          <a:xfrm>
            <a:off x="8385048" y="4919472"/>
            <a:ext cx="3118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Solaris program: validated IR deflection for thermal-performance fabrics.</a:t>
            </a:r>
            <a:endParaRPr lang="en-US" sz="1100" dirty="0"/>
          </a:p>
        </p:txBody>
      </p:sp>
      <p:sp>
        <p:nvSpPr>
          <p:cNvPr id="37" name="Text 29"/>
          <p:cNvSpPr/>
          <p:nvPr/>
        </p:nvSpPr>
        <p:spPr>
          <a:xfrm>
            <a:off x="502920" y="58978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1F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treatment. Antimicrobial, anti-odor, antifungal, antiviral, UV, wicking and IR — all from a single durable, 100-wash finish.</a:t>
            </a:r>
            <a:endParaRPr lang="en-US" sz="1250" dirty="0"/>
          </a:p>
        </p:txBody>
      </p:sp>
      <p:pic>
        <p:nvPicPr>
          <p:cNvPr id="38" name="Image 6" descr="assets/fuze-logo-horizonta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6400800"/>
            <a:ext cx="1078992" cy="329184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4937760" y="64190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40" name="Text 31"/>
          <p:cNvSpPr/>
          <p:nvPr/>
        </p:nvSpPr>
        <p:spPr>
          <a:xfrm>
            <a:off x="11338560" y="6400800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3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SHIFT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Non-leaching is the future — Sanitized can lead it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Leaching actives still dominate, but regulators and brands are moving away from them. Competitors — Silvadur, Polygiene, Microban, HeiQ, Rudolf — remain locked into leaching chemistry. FUZE gives Sanitized the non-leaching platform to lead the transition, validated on the right test.</a:t>
            </a:r>
            <a:endParaRPr lang="en-US" sz="14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377440"/>
          <a:ext cx="111556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206240"/>
                <a:gridCol w="420624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Legacy leaching actives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3B5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FUZE metamaterial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Kill mechanism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5C73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Leaches ions into moisture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E5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Bonded — kills on contact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skin &amp; wash water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5C73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Migrates out over time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E5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Nothing leaches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 test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5C73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AATCC 100 (built for leaching)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E5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ASTM E2149 (built for contact-kill)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reports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5C73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Self-published marketing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E5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Third-party, shared with brands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PFAS / binders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5C73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Often binder-dependent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E5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 PFAS · zero binders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Functional range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5C73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Antimicrobial only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E5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Antimicrobial + UV + wicking + IR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B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58978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“The future of antimicrobial textiles is non-leaching. Lead it with FUZE.”</a:t>
            </a:r>
            <a:endParaRPr lang="en-US" sz="1400" dirty="0"/>
          </a:p>
        </p:txBody>
      </p:sp>
      <p:pic>
        <p:nvPicPr>
          <p:cNvPr id="7" name="Image 0" descr="assets/fuze-logo-horizont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400800"/>
            <a:ext cx="1078992" cy="32918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937760" y="64190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11338560" y="6400800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3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PARTNERSHIP WINS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fit — what each side brings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5486400" cy="2743200"/>
          </a:xfrm>
          <a:prstGeom prst="roundRect">
            <a:avLst>
              <a:gd name="adj" fmla="val 2667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691640"/>
            <a:ext cx="5486400" cy="530352"/>
          </a:xfrm>
          <a:prstGeom prst="rect">
            <a:avLst/>
          </a:prstGeom>
          <a:solidFill>
            <a:srgbClr val="13B5D4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916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FUZE brings</a:t>
            </a:r>
            <a:endParaRPr lang="en-US" sz="16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2423160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24712" y="235915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Patented, sole-source platform technology</a:t>
            </a:r>
            <a:endParaRPr lang="en-US" sz="12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2834640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24712" y="277063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license &amp; first-mover advantage</a:t>
            </a:r>
            <a:endParaRPr lang="en-US" sz="12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3246120"/>
            <a:ext cx="219456" cy="2194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24712" y="318211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regulatory + test dossier (EPA, OEKO-TEX, bluesign)</a:t>
            </a:r>
            <a:endParaRPr lang="en-US" sz="12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3657600"/>
            <a:ext cx="219456" cy="21945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24712" y="359359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validation &amp; application know-how</a:t>
            </a:r>
            <a:endParaRPr lang="en-US" sz="12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4069080"/>
            <a:ext cx="219456" cy="21945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124712" y="400507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brand credibility &amp; co-marketing</a:t>
            </a:r>
            <a:endParaRPr lang="en-US" sz="1250" dirty="0"/>
          </a:p>
        </p:txBody>
      </p:sp>
      <p:sp>
        <p:nvSpPr>
          <p:cNvPr id="17" name="Shape 10"/>
          <p:cNvSpPr/>
          <p:nvPr/>
        </p:nvSpPr>
        <p:spPr>
          <a:xfrm>
            <a:off x="6263640" y="1691640"/>
            <a:ext cx="5486400" cy="2743200"/>
          </a:xfrm>
          <a:prstGeom prst="roundRect">
            <a:avLst>
              <a:gd name="adj" fmla="val 2667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18" name="Shape 11"/>
          <p:cNvSpPr/>
          <p:nvPr/>
        </p:nvSpPr>
        <p:spPr>
          <a:xfrm>
            <a:off x="6263640" y="1691640"/>
            <a:ext cx="5486400" cy="530352"/>
          </a:xfrm>
          <a:prstGeom prst="rect">
            <a:avLst/>
          </a:prstGeom>
          <a:solidFill>
            <a:srgbClr val="1FA89E"/>
          </a:solidFill>
          <a:ln/>
        </p:spPr>
      </p:sp>
      <p:sp>
        <p:nvSpPr>
          <p:cNvPr id="19" name="Text 12"/>
          <p:cNvSpPr/>
          <p:nvPr/>
        </p:nvSpPr>
        <p:spPr>
          <a:xfrm>
            <a:off x="6537960" y="16916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Sanitized brings</a:t>
            </a:r>
            <a:endParaRPr lang="en-US" sz="16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6248" y="2423160"/>
            <a:ext cx="219456" cy="219456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885432" y="235915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years of hygiene-function market leadership</a:t>
            </a:r>
            <a:endParaRPr lang="en-US" sz="125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6248" y="2834640"/>
            <a:ext cx="219456" cy="219456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6885432" y="277063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Sanitized® ingredient-brand recognition &amp; trust</a:t>
            </a:r>
            <a:endParaRPr lang="en-US" sz="125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56248" y="3246120"/>
            <a:ext cx="219456" cy="219456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6885432" y="318211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channels — textiles, polymers &amp; coatings</a:t>
            </a:r>
            <a:endParaRPr lang="en-US" sz="1250" dirty="0"/>
          </a:p>
        </p:txBody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56248" y="3657600"/>
            <a:ext cx="219456" cy="219456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6885432" y="359359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antimicrobial regulatory mastery (BPR · EPA)</a:t>
            </a:r>
            <a:endParaRPr lang="en-US" sz="1250" dirty="0"/>
          </a:p>
        </p:txBody>
      </p:sp>
      <p:pic>
        <p:nvPicPr>
          <p:cNvPr id="2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56248" y="4069080"/>
            <a:ext cx="219456" cy="219456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6885432" y="400507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application infrastructure</a:t>
            </a:r>
            <a:endParaRPr lang="en-US" sz="1250" dirty="0"/>
          </a:p>
        </p:txBody>
      </p:sp>
      <p:sp>
        <p:nvSpPr>
          <p:cNvPr id="30" name="Shape 18"/>
          <p:cNvSpPr/>
          <p:nvPr/>
        </p:nvSpPr>
        <p:spPr>
          <a:xfrm>
            <a:off x="502920" y="4663440"/>
            <a:ext cx="11201400" cy="1371600"/>
          </a:xfrm>
          <a:prstGeom prst="roundRect">
            <a:avLst>
              <a:gd name="adj" fmla="val 5333"/>
            </a:avLst>
          </a:prstGeom>
          <a:solidFill>
            <a:srgbClr val="12283A"/>
          </a:solidFill>
          <a:ln/>
        </p:spPr>
      </p:sp>
      <p:sp>
        <p:nvSpPr>
          <p:cNvPr id="31" name="Text 19"/>
          <p:cNvSpPr/>
          <p:nvPr/>
        </p:nvSpPr>
        <p:spPr>
          <a:xfrm>
            <a:off x="777240" y="4828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3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OUTCOME</a:t>
            </a:r>
            <a:endParaRPr lang="en-US" sz="1150" dirty="0"/>
          </a:p>
        </p:txBody>
      </p:sp>
      <p:sp>
        <p:nvSpPr>
          <p:cNvPr id="32" name="Text 20"/>
          <p:cNvSpPr/>
          <p:nvPr/>
        </p:nvSpPr>
        <p:spPr>
          <a:xfrm>
            <a:off x="777240" y="51206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turnkey non-leaching platform — 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C7D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premium revenue, higher margins, defensible IP and stickier customers — extending Sanitized’s hygiene-function leadership across textiles and polymers, with no new capital equipment.</a:t>
            </a:r>
            <a:endParaRPr lang="en-US" sz="1450" dirty="0"/>
          </a:p>
        </p:txBody>
      </p:sp>
      <p:pic>
        <p:nvPicPr>
          <p:cNvPr id="33" name="Image 10" descr="assets/fuze-logo-horizontal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2920" y="6400800"/>
            <a:ext cx="1078992" cy="329184"/>
          </a:xfrm>
          <a:prstGeom prst="rect">
            <a:avLst/>
          </a:prstGeom>
        </p:spPr>
      </p:pic>
      <p:sp>
        <p:nvSpPr>
          <p:cNvPr id="34" name="Text 21"/>
          <p:cNvSpPr/>
          <p:nvPr/>
        </p:nvSpPr>
        <p:spPr>
          <a:xfrm>
            <a:off x="4937760" y="64190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35" name="Text 22"/>
          <p:cNvSpPr/>
          <p:nvPr/>
        </p:nvSpPr>
        <p:spPr>
          <a:xfrm>
            <a:off x="11338560" y="6400800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3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BIGGER OPPORTUNITY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Beyond textiles — a global surface platform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02920" y="1572768"/>
            <a:ext cx="5852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FUZE is not a textile chemistry — it is a surface technology. The same non-leaching metamaterial that bonds into fibers bonds to hard surfaces, making antimicrobial textiles the entry point to a far larger market: global surface sanitization.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3246120"/>
            <a:ext cx="5852160" cy="1783080"/>
          </a:xfrm>
          <a:prstGeom prst="roundRect">
            <a:avLst>
              <a:gd name="adj" fmla="val 5128"/>
            </a:avLst>
          </a:prstGeom>
          <a:solidFill>
            <a:srgbClr val="12283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383280"/>
            <a:ext cx="2148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13B5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≈3×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2971800" y="347472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market than antimicrobial textiles alone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AF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non-textile surfaces — plastics, coatings &amp; hard-surface disinfection.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629400" y="1572768"/>
            <a:ext cx="5074920" cy="3456432"/>
          </a:xfrm>
          <a:prstGeom prst="roundRect">
            <a:avLst>
              <a:gd name="adj" fmla="val 2646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03720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SURFACE FUZE BONDS TO</a:t>
            </a:r>
            <a:endParaRPr lang="en-US" sz="12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2350008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214616" y="228600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20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Textiles &amp; apparel</a:t>
            </a:r>
            <a:endParaRPr lang="en-US" sz="12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2350008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637776" y="228600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20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Polymers &amp; plastics</a:t>
            </a:r>
            <a:endParaRPr lang="en-US" sz="12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2953512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214616" y="2889504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20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Paints &amp; coatings</a:t>
            </a:r>
            <a:endParaRPr lang="en-US" sz="12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0" y="2953512"/>
            <a:ext cx="219456" cy="21945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637776" y="2889504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20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Ceramics &amp; porcelain</a:t>
            </a:r>
            <a:endParaRPr lang="en-US" sz="12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3720" y="3557016"/>
            <a:ext cx="219456" cy="21945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214616" y="349300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20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Stainless &amp; metal</a:t>
            </a:r>
            <a:endParaRPr lang="en-US" sz="12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0" y="3557016"/>
            <a:ext cx="219456" cy="219456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9637776" y="349300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20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Laminates &amp; ABS</a:t>
            </a:r>
            <a:endParaRPr lang="en-US" sz="120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3720" y="4160520"/>
            <a:ext cx="219456" cy="219456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7214616" y="409651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20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High-touch surfaces</a:t>
            </a:r>
            <a:endParaRPr lang="en-US" sz="120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26880" y="4160520"/>
            <a:ext cx="219456" cy="219456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9637776" y="409651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20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devices</a:t>
            </a:r>
            <a:endParaRPr lang="en-US" sz="1200" dirty="0"/>
          </a:p>
        </p:txBody>
      </p:sp>
      <p:sp>
        <p:nvSpPr>
          <p:cNvPr id="26" name="Shape 16"/>
          <p:cNvSpPr/>
          <p:nvPr/>
        </p:nvSpPr>
        <p:spPr>
          <a:xfrm>
            <a:off x="502920" y="5212080"/>
            <a:ext cx="11201400" cy="914400"/>
          </a:xfrm>
          <a:prstGeom prst="roundRect">
            <a:avLst>
              <a:gd name="adj" fmla="val 8000"/>
            </a:avLst>
          </a:prstGeom>
          <a:solidFill>
            <a:srgbClr val="12283A"/>
          </a:solidFill>
          <a:ln/>
        </p:spPr>
      </p:sp>
      <p:sp>
        <p:nvSpPr>
          <p:cNvPr id="27" name="Text 17"/>
          <p:cNvSpPr/>
          <p:nvPr/>
        </p:nvSpPr>
        <p:spPr>
          <a:xfrm>
            <a:off x="777240" y="535838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3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ON HARD SURFACES</a:t>
            </a:r>
            <a:endParaRPr lang="en-US" sz="1050" dirty="0"/>
          </a:p>
        </p:txBody>
      </p:sp>
      <p:sp>
        <p:nvSpPr>
          <p:cNvPr id="28" name="Text 18"/>
          <p:cNvSpPr/>
          <p:nvPr/>
        </p:nvSpPr>
        <p:spPr>
          <a:xfrm>
            <a:off x="777240" y="55778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C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antimicrobial kill on ceramic, porcelain, stainless steel, Formica, plastic (ABS) and marble — the same non-leaching mechanism, on every surface Sanitized already serves across textiles, polymers and coatings.</a:t>
            </a:r>
            <a:endParaRPr lang="en-US" sz="1200" dirty="0"/>
          </a:p>
        </p:txBody>
      </p:sp>
      <p:sp>
        <p:nvSpPr>
          <p:cNvPr id="29" name="Text 19"/>
          <p:cNvSpPr/>
          <p:nvPr/>
        </p:nvSpPr>
        <p:spPr>
          <a:xfrm>
            <a:off x="777240" y="6163056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basis (2025 industry estimates): antimicrobial plastics ~$38B + coatings ~$5B + surface disinfectants ~$6B  ≈ $49B   vs.   antimicrobial textiles ~$14B.</a:t>
            </a:r>
            <a:endParaRPr lang="en-US" sz="800" dirty="0"/>
          </a:p>
        </p:txBody>
      </p:sp>
      <p:pic>
        <p:nvPicPr>
          <p:cNvPr id="30" name="Image 8" descr="assets/fuze-logo-horizontal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2920" y="6400800"/>
            <a:ext cx="1078992" cy="329184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4937760" y="64190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32" name="Text 21"/>
          <p:cNvSpPr/>
          <p:nvPr/>
        </p:nvSpPr>
        <p:spPr>
          <a:xfrm>
            <a:off x="11338560" y="6400800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3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OPPORTUNITY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 commercialization across Sanitized’s channels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Sanitized already serves hygiene function across textiles, polymers and coatings worldwide. Those existing channels are the fastest commercialization pathway FUZE could have.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02920" y="2148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3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ACROSS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2468880"/>
            <a:ext cx="2578608" cy="457200"/>
          </a:xfrm>
          <a:prstGeom prst="roundRect">
            <a:avLst>
              <a:gd name="adj" fmla="val 12000"/>
            </a:avLst>
          </a:prstGeom>
          <a:solidFill>
            <a:srgbClr val="EEF6F9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468880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Apparel &amp; activewear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82696" y="2468880"/>
            <a:ext cx="2368296" cy="457200"/>
          </a:xfrm>
          <a:prstGeom prst="roundRect">
            <a:avLst>
              <a:gd name="adj" fmla="val 12000"/>
            </a:avLst>
          </a:prstGeom>
          <a:solidFill>
            <a:srgbClr val="EEF6F9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82696" y="2468880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&amp; hospitality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852160" y="2468880"/>
            <a:ext cx="2368296" cy="457200"/>
          </a:xfrm>
          <a:prstGeom prst="roundRect">
            <a:avLst>
              <a:gd name="adj" fmla="val 12000"/>
            </a:avLst>
          </a:prstGeom>
          <a:solidFill>
            <a:srgbClr val="EEF6F9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0" y="2468880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textiles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421624" y="2468880"/>
            <a:ext cx="1316736" cy="457200"/>
          </a:xfrm>
          <a:prstGeom prst="roundRect">
            <a:avLst>
              <a:gd name="adj" fmla="val 12000"/>
            </a:avLst>
          </a:prstGeom>
          <a:solidFill>
            <a:srgbClr val="EEF6F9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21624" y="2468880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Polymers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939528" y="2468880"/>
            <a:ext cx="1316736" cy="457200"/>
          </a:xfrm>
          <a:prstGeom prst="roundRect">
            <a:avLst>
              <a:gd name="adj" fmla="val 12000"/>
            </a:avLst>
          </a:prstGeom>
          <a:solidFill>
            <a:srgbClr val="EEF6F9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939528" y="2468880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Coatings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920" y="3246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3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ROADMAP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920" y="3611880"/>
            <a:ext cx="2670048" cy="2194560"/>
          </a:xfrm>
          <a:prstGeom prst="roundRect">
            <a:avLst>
              <a:gd name="adj" fmla="val 3333"/>
            </a:avLst>
          </a:prstGeom>
          <a:solidFill>
            <a:srgbClr val="12283A"/>
          </a:solidFill>
          <a:ln w="12700">
            <a:solidFill>
              <a:srgbClr val="1228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794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3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411480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Antimicrobial Textiles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31520" y="48920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F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 the proven, certified entry point.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172968" y="4297680"/>
            <a:ext cx="310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3B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3364992" y="3611880"/>
            <a:ext cx="2670048" cy="2194560"/>
          </a:xfrm>
          <a:prstGeom prst="roundRect">
            <a:avLst>
              <a:gd name="adj" fmla="val 3333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93592" y="3794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593592" y="411480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6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Post-Leaching Programs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593592" y="48920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leaching actives &amp; PFAS across textiles and polymers.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035040" y="4297680"/>
            <a:ext cx="310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3B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27" name="Shape 25"/>
          <p:cNvSpPr/>
          <p:nvPr/>
        </p:nvSpPr>
        <p:spPr>
          <a:xfrm>
            <a:off x="6227064" y="3611880"/>
            <a:ext cx="2670048" cy="2194560"/>
          </a:xfrm>
          <a:prstGeom prst="roundRect">
            <a:avLst>
              <a:gd name="adj" fmla="val 3333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55664" y="3794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55664" y="411480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6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Functional Surfaces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55664" y="48920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UV, wicking, IR, durability — performance textiles.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897112" y="4297680"/>
            <a:ext cx="310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3B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32" name="Shape 30"/>
          <p:cNvSpPr/>
          <p:nvPr/>
        </p:nvSpPr>
        <p:spPr>
          <a:xfrm>
            <a:off x="9089136" y="3611880"/>
            <a:ext cx="2670048" cy="2194560"/>
          </a:xfrm>
          <a:prstGeom prst="roundRect">
            <a:avLst>
              <a:gd name="adj" fmla="val 3333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317736" y="3794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317736" y="411480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6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Next-Gen Materials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317736" y="48920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smart-textile surfaces.</a:t>
            </a:r>
            <a:endParaRPr lang="en-US" sz="1100" dirty="0"/>
          </a:p>
        </p:txBody>
      </p:sp>
      <p:pic>
        <p:nvPicPr>
          <p:cNvPr id="36" name="Image 0" descr="assets/fuze-logo-horizont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400800"/>
            <a:ext cx="1078992" cy="329184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4937760" y="64190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11338560" y="6400800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28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3B5D4"/>
          </a:solidFill>
          <a:ln/>
        </p:spPr>
      </p:sp>
      <p:pic>
        <p:nvPicPr>
          <p:cNvPr id="3" name="Image 0" descr="assets/fuze-icon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9418320" y="594360"/>
            <a:ext cx="2926080" cy="2240280"/>
          </a:xfrm>
          <a:prstGeom prst="rect">
            <a:avLst/>
          </a:prstGeom>
        </p:spPr>
      </p:pic>
      <p:pic>
        <p:nvPicPr>
          <p:cNvPr id="4" name="Image 1" descr="assets/fuze-logo-horizontal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85800"/>
            <a:ext cx="1828800" cy="55778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22960" y="18288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3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OF HYGIENE FUNCTION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777240" y="219456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Sanitized has defined antimicrobial</a:t>
            </a:r>
            <a:endParaRPr lang="en-US" sz="3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hygiene function since 1935.</a:t>
            </a:r>
            <a:endParaRPr lang="en-US" sz="3600" dirty="0"/>
          </a:p>
        </p:txBody>
      </p:sp>
      <p:sp>
        <p:nvSpPr>
          <p:cNvPr id="7" name="Text 3"/>
          <p:cNvSpPr/>
          <p:nvPr/>
        </p:nvSpPr>
        <p:spPr>
          <a:xfrm>
            <a:off x="822960" y="361188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C7D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let’s define what comes next — </a:t>
            </a:r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non-leaching generation of engineered surfaces delivering performance and safety across textiles and polymers, without legacy chemistry.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822960" y="5029200"/>
            <a:ext cx="10515600" cy="0"/>
          </a:xfrm>
          <a:prstGeom prst="line">
            <a:avLst/>
          </a:prstGeom>
          <a:noFill/>
          <a:ln w="12700">
            <a:solidFill>
              <a:srgbClr val="2C4A5E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22960" y="52120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Andrew Peterson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FB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&amp; Founder, FUZE Biotech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3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andrew@fuze47.com  ·  fuzeatlas.com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822960" y="63550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C9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Technology Licensing Opportunity  ·  Confidential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FUZE Biotech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FUZE + Sanitized — Partnership Overview</dc:title>
  <dc:subject>PptxGenJS Presentation</dc:subject>
  <dc:creator>FUZE Biotech</dc:creator>
  <cp:lastModifiedBy>FUZE Biotech</cp:lastModifiedBy>
  <cp:revision>1</cp:revision>
  <dcterms:created xsi:type="dcterms:W3CDTF">2026-06-04T18:30:25Z</dcterms:created>
  <dcterms:modified xsi:type="dcterms:W3CDTF">2026-06-04T18:30:25Z</dcterms:modified>
</cp:coreProperties>
</file>