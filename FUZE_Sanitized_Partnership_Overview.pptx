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5D4"/>
          </a:solidFill>
          <a:ln/>
        </p:spPr>
      </p:sp>
      <p:pic>
        <p:nvPicPr>
          <p:cNvPr id="3" name="Image 0" descr="assets/fuze-icon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8869680" y="640080"/>
            <a:ext cx="3291840" cy="2523744"/>
          </a:xfrm>
          <a:prstGeom prst="rect">
            <a:avLst/>
          </a:prstGeom>
        </p:spPr>
      </p:pic>
      <p:pic>
        <p:nvPicPr>
          <p:cNvPr id="4" name="Image 1" descr="assets/fuze-logo-stacked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77240"/>
            <a:ext cx="1591056" cy="1188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2331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TECHNOLOGY LICENSING OPPORTUNITY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77240" y="26974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Future of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Textiles</a:t>
            </a:r>
            <a:endParaRPr lang="en-US" sz="5000" dirty="0"/>
          </a:p>
        </p:txBody>
      </p:sp>
      <p:sp>
        <p:nvSpPr>
          <p:cNvPr id="7" name="Text 3"/>
          <p:cNvSpPr/>
          <p:nvPr/>
        </p:nvSpPr>
        <p:spPr>
          <a:xfrm>
            <a:off x="822960" y="45262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technology partnership between FUZE Biotech and Sanitized AG —</a:t>
            </a: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functionality for textiles and polymers, without legacy chemistry, beyond PFAS.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822960" y="5532120"/>
            <a:ext cx="2743200" cy="0"/>
          </a:xfrm>
          <a:prstGeom prst="line">
            <a:avLst/>
          </a:prstGeom>
          <a:noFill/>
          <a:ln w="25400">
            <a:solidFill>
              <a:srgbClr val="1FA89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5669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Sanitized executive team  ·  FUZE Biotech, Salt Lake City, USA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another antimicrobial additive — a new category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6537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has defined antimicrobial </a:t>
            </a:r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hygiene function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90 years. FUZE adds the one thing leaching chemistries cannot: a patented, sole-source, non-leaching </a:t>
            </a:r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metamaterial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durable, multi-functional performance engineered into the textile, safely and without PFAS.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0" y="1783080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71232" y="2075688"/>
            <a:ext cx="713232" cy="713232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5824" y="224028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49640" y="19842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technology license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49640" y="23500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rights to a platform no competitor can manufacture.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315200" y="3246120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71232" y="3538728"/>
            <a:ext cx="713232" cy="713232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824" y="37033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49640" y="34472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into existing lines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549640" y="381304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finishing equipment — exhaust, pad-dry-cure, spray. No capex.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315200" y="4709160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571232" y="5001768"/>
            <a:ext cx="713232" cy="713232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4" y="516636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4910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non-leaching category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549640" y="527608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the post-leaching shift: higher margin, defensible, sticky.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02920" y="5532120"/>
            <a:ext cx="6537960" cy="640080"/>
          </a:xfrm>
          <a:prstGeom prst="rect">
            <a:avLst/>
          </a:prstGeom>
          <a:solidFill>
            <a:srgbClr val="12283A"/>
          </a:solidFill>
          <a:ln/>
        </p:spPr>
      </p:sp>
      <p:sp>
        <p:nvSpPr>
          <p:cNvPr id="21" name="Text 16"/>
          <p:cNvSpPr/>
          <p:nvPr/>
        </p:nvSpPr>
        <p:spPr>
          <a:xfrm>
            <a:off x="685800" y="55321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are not offering Sanitized another antimicrobial additive — we are offering the non-leaching platform that extends its hygiene-function leadership into the next era.”</a:t>
            </a:r>
            <a:endParaRPr lang="en-US" sz="1100" dirty="0"/>
          </a:p>
        </p:txBody>
      </p:sp>
      <p:pic>
        <p:nvPicPr>
          <p:cNvPr id="22" name="Image 3" descr="assets/fuze-logo-horizont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SANITIZED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ideal partner to commercialize FUZE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has defined antimicrobial hygiene function for 90 years — a globally recognized ingredient brand across textiles, polymers and coatings, with the regulatory depth to bring a new platform to market.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377440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2542032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1935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· Burgdorf, Switzerland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15968" y="2377440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15968" y="2377440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542032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90+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4590288" y="315468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in antimicrobial hygiene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29016" y="2377440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9016" y="2377440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15" name="Text 13"/>
          <p:cNvSpPr/>
          <p:nvPr/>
        </p:nvSpPr>
        <p:spPr>
          <a:xfrm>
            <a:off x="8385048" y="2542032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4th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8403336" y="315468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generation, family-owned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867912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867912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4032504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777240" y="4645152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· textiles · polymers · coatings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15968" y="3867912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15968" y="3867912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4032504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4590288" y="4645152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subsidiaries · CH · CN · IN · US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29016" y="3867912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29016" y="3867912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27" name="Text 25"/>
          <p:cNvSpPr/>
          <p:nvPr/>
        </p:nvSpPr>
        <p:spPr>
          <a:xfrm>
            <a:off x="8385048" y="4032504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</a:t>
            </a:r>
            <a:endParaRPr lang="en-US" sz="3300" dirty="0"/>
          </a:p>
        </p:txBody>
      </p:sp>
      <p:sp>
        <p:nvSpPr>
          <p:cNvPr id="28" name="Text 26"/>
          <p:cNvSpPr/>
          <p:nvPr/>
        </p:nvSpPr>
        <p:spPr>
          <a:xfrm>
            <a:off x="8403336" y="4645152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Sanitized® ingredient brand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54406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the trusted name in textile hygiene function.  </a:t>
            </a:r>
            <a:pPr algn="ctr" indent="0" marL="0">
              <a:buNone/>
            </a:pPr>
            <a:r>
              <a:rPr lang="en-US" sz="1500" b="1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is the non-leaching platform to lead what comes next.</a:t>
            </a:r>
            <a:endParaRPr lang="en-US" sz="1500" dirty="0"/>
          </a:p>
        </p:txBody>
      </p:sp>
      <p:pic>
        <p:nvPicPr>
          <p:cNvPr id="30" name="Image 0" descr="assets/fuze-logo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FUZE WINS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pillars where FUZE beats every competitor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5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C2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12848"/>
            <a:ext cx="914400" cy="914400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44144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92024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&amp; Zero Toxicity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920240" y="2697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Non-leaching, baby-safe, EPA-registered, PFAS-free. Nothing released into skin or wash water.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5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C2B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212848"/>
            <a:ext cx="914400" cy="914400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44144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8368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68096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Sustainability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7680960" y="2697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at parts-per-million. No binders, no PFAS, circular feedstock, drop-in process.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" y="416052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5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C2B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544568"/>
            <a:ext cx="914400" cy="914400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77316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" y="5532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920240" y="4526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Unmatched IP &amp; Supply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1920240" y="5029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worldwide patents. Sole-source global manufacturer. No competitor can make the molecule.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263640" y="416052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5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C2B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83680" y="4544568"/>
            <a:ext cx="914400" cy="914400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773168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83680" y="5532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680960" y="4526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Platform</a:t>
            </a:r>
            <a:endParaRPr lang="en-US" sz="1900" dirty="0"/>
          </a:p>
        </p:txBody>
      </p:sp>
      <p:sp>
        <p:nvSpPr>
          <p:cNvPr id="27" name="Text 21"/>
          <p:cNvSpPr/>
          <p:nvPr/>
        </p:nvSpPr>
        <p:spPr>
          <a:xfrm>
            <a:off x="7680960" y="5029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beyond antimicrobial — anti-odor, UV, moisture-wicking, IR heat management.</a:t>
            </a:r>
            <a:endParaRPr lang="en-US" sz="1300" dirty="0"/>
          </a:p>
        </p:txBody>
      </p:sp>
      <p:pic>
        <p:nvPicPr>
          <p:cNvPr id="28" name="Image 4" descr="assets/fuze-logo-horizont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2283A"/>
          </a:solidFill>
          <a:ln w="19050">
            <a:solidFill>
              <a:srgbClr val="13B5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ONE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&amp; Zero Toxicity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is non-leaching by design. Its metamaterial bonds permanently into the fiber surface and kills on contact — so nothing migrates into skin, garments, or wash water. That is the opposite of leaching silver-ion, zinc and quaternary chemistries.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8152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0266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OEKO-TEX Standard 100 Class I — certified safe for baby &amp; infant products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53872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6112" y="34838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bluesign® approved system partner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9592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96112" y="39410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registered (federal) + California EPA approved (Q1 2026)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53128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6112" y="43982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PFAS-free — no fluorochemistry, ever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910328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96112" y="48554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formaldehyde, no binder resins, no heavy-metal carriers</a:t>
            </a:r>
            <a:endParaRPr lang="en-US" sz="13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367528"/>
            <a:ext cx="237744" cy="23774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96112" y="53126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for direct, prolonged skin contact incl. sensitive skin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7086600" y="1554480"/>
            <a:ext cx="4617720" cy="4480560"/>
          </a:xfrm>
          <a:prstGeom prst="roundRect">
            <a:avLst>
              <a:gd name="adj" fmla="val 2041"/>
            </a:avLst>
          </a:prstGeom>
          <a:solidFill>
            <a:srgbClr val="12283A"/>
          </a:solidFill>
          <a:ln/>
        </p:spPr>
      </p:sp>
      <p:sp>
        <p:nvSpPr>
          <p:cNvPr id="20" name="Text 12"/>
          <p:cNvSpPr/>
          <p:nvPr/>
        </p:nvSpPr>
        <p:spPr>
          <a:xfrm>
            <a:off x="7406640" y="1828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TO NON-LEACHING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7406640" y="224028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Leaching actives — the current standard
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F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Silver-ion, zinc and QAC release ions to kill — those ions migrate into skin and wastewater, deplete with each wash, and face tightening biocide scrutiny.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7406640" y="3657600"/>
            <a:ext cx="4023360" cy="0"/>
          </a:xfrm>
          <a:prstGeom prst="line">
            <a:avLst/>
          </a:prstGeom>
          <a:noFill/>
          <a:ln w="12700">
            <a:solidFill>
              <a:srgbClr val="2C4A5E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7406640" y="38404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metamaterial
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bonded, kills on physical contact. Nothing leaches — so it stays safe and stays put through 100 washes.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7406640" y="5440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result: a finish you can put on a newborn's onesie.</a:t>
            </a:r>
            <a:endParaRPr lang="en-US" sz="1250" dirty="0"/>
          </a:p>
        </p:txBody>
      </p:sp>
      <p:pic>
        <p:nvPicPr>
          <p:cNvPr id="25" name="Image 6" descr="assets/fuze-logo-horizont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7" name="Text 18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2283A"/>
          </a:solidFill>
          <a:ln w="19050">
            <a:solidFill>
              <a:srgbClr val="13B5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TWO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Sustainability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is one of the lowest-impact functional finishes in the industry — and the feedstock itself is circular.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3621024" cy="1371600"/>
          </a:xfrm>
          <a:prstGeom prst="roundRect">
            <a:avLst>
              <a:gd name="adj" fmla="val 4667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331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A8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0.25–1.0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29443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mg/kg active loading on fabric — F4 to F1 (registered max)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5968" y="2194560"/>
            <a:ext cx="3621024" cy="1371600"/>
          </a:xfrm>
          <a:prstGeom prst="roundRect">
            <a:avLst>
              <a:gd name="adj" fmla="val 4667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331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A8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90288" y="29443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· binders · curing chemistry burden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9016" y="2194560"/>
            <a:ext cx="3621024" cy="1371600"/>
          </a:xfrm>
          <a:prstGeom prst="roundRect">
            <a:avLst>
              <a:gd name="adj" fmla="val 4667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2331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A8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403336" y="29443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feedstock — laser-synthesized from recycled metals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840480"/>
            <a:ext cx="640080" cy="640080"/>
          </a:xfrm>
          <a:prstGeom prst="ellipse">
            <a:avLst/>
          </a:prstGeom>
          <a:solidFill>
            <a:srgbClr val="EEF6F9"/>
          </a:solidFill>
          <a:ln w="15875">
            <a:solidFill>
              <a:srgbClr val="1FA89E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005072"/>
            <a:ext cx="310896" cy="31089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25880" y="38221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by design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325880" y="416966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Metamaterial is laser-synthesized from recycled electronics — waste becomes performance.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17920" y="3840480"/>
            <a:ext cx="640080" cy="640080"/>
          </a:xfrm>
          <a:prstGeom prst="ellipse">
            <a:avLst/>
          </a:prstGeom>
          <a:solidFill>
            <a:srgbClr val="EEF6F9"/>
          </a:solidFill>
          <a:ln w="15875">
            <a:solidFill>
              <a:srgbClr val="1FA89E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4005072"/>
            <a:ext cx="310896" cy="31089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040880" y="38221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Low-energy, solar-capable production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7040880" y="416966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laser ablation runs on a 1 m² table; production can be solar-powered.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02920" y="4937760"/>
            <a:ext cx="640080" cy="640080"/>
          </a:xfrm>
          <a:prstGeom prst="ellipse">
            <a:avLst/>
          </a:prstGeom>
          <a:solidFill>
            <a:srgbClr val="EEF6F9"/>
          </a:solidFill>
          <a:ln w="15875">
            <a:solidFill>
              <a:srgbClr val="1FA89E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102352"/>
            <a:ext cx="310896" cy="31089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325880" y="49194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water &amp; wastewater impact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1325880" y="526694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residual concentrations sit well below regulatory limits; nothing leaches out.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217920" y="4937760"/>
            <a:ext cx="640080" cy="640080"/>
          </a:xfrm>
          <a:prstGeom prst="ellipse">
            <a:avLst/>
          </a:prstGeom>
          <a:solidFill>
            <a:srgbClr val="EEF6F9"/>
          </a:solidFill>
          <a:ln w="15875">
            <a:solidFill>
              <a:srgbClr val="1FA89E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5102352"/>
            <a:ext cx="310896" cy="31089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40880" y="49194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product life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7040880" y="526694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odor &amp; microbial control means garments last longer — less textile waste.</a:t>
            </a:r>
            <a:endParaRPr lang="en-US" sz="1150" dirty="0"/>
          </a:p>
        </p:txBody>
      </p:sp>
      <p:pic>
        <p:nvPicPr>
          <p:cNvPr id="32" name="Image 4" descr="assets/fuze-logo-horizont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uze-icon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9509760" y="4297680"/>
            <a:ext cx="2743200" cy="2103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1C2B"/>
          </a:solidFill>
          <a:ln w="19050">
            <a:solidFill>
              <a:srgbClr val="13B5D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20700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THREE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207008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Unmatched IP &amp; Sole-Source Supply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502920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can copy a marketing claim. They cannot make the molecule. FUZE owns the chemistry, the method, and the only production line on earth.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02920" y="2468880"/>
            <a:ext cx="3621024" cy="2788920"/>
          </a:xfrm>
          <a:prstGeom prst="roundRect">
            <a:avLst>
              <a:gd name="adj" fmla="val 2951"/>
            </a:avLst>
          </a:prstGeom>
          <a:solidFill>
            <a:srgbClr val="163145"/>
          </a:solidFill>
          <a:ln w="12700">
            <a:solidFill>
              <a:srgbClr val="274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795528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PATENTS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5528" y="42245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&amp; pending across the metamaterial, its synthesis, and its application.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15968" y="2468880"/>
            <a:ext cx="3621024" cy="2788920"/>
          </a:xfrm>
          <a:prstGeom prst="roundRect">
            <a:avLst>
              <a:gd name="adj" fmla="val 2951"/>
            </a:avLst>
          </a:prstGeom>
          <a:solidFill>
            <a:srgbClr val="163145"/>
          </a:solidFill>
          <a:ln w="12700">
            <a:solidFill>
              <a:srgbClr val="2746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0288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of 1</a:t>
            </a:r>
            <a:endParaRPr lang="en-US" sz="5000" dirty="0"/>
          </a:p>
        </p:txBody>
      </p:sp>
      <p:sp>
        <p:nvSpPr>
          <p:cNvPr id="14" name="Text 11"/>
          <p:cNvSpPr/>
          <p:nvPr/>
        </p:nvSpPr>
        <p:spPr>
          <a:xfrm>
            <a:off x="4608576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SOLE-SOURCE MANUFACTURER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08576" y="42245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is the only producer worldwide — proprietary liquid laser ablation.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29016" y="2468880"/>
            <a:ext cx="3621024" cy="2788920"/>
          </a:xfrm>
          <a:prstGeom prst="roundRect">
            <a:avLst>
              <a:gd name="adj" fmla="val 2951"/>
            </a:avLst>
          </a:prstGeom>
          <a:solidFill>
            <a:srgbClr val="163145"/>
          </a:solidFill>
          <a:ln w="12700">
            <a:solidFill>
              <a:srgbClr val="27465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03336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000" dirty="0"/>
          </a:p>
        </p:txBody>
      </p:sp>
      <p:sp>
        <p:nvSpPr>
          <p:cNvPr id="18" name="Text 15"/>
          <p:cNvSpPr/>
          <p:nvPr/>
        </p:nvSpPr>
        <p:spPr>
          <a:xfrm>
            <a:off x="8421624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SUBSTITUTES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421624" y="42245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can replicate the high-density allotrope. The moat is the material.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2920" y="5532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Sanitized this means one thing:  </a:t>
            </a:r>
            <a:pPr algn="ctr" indent="0" marL="0">
              <a:buNone/>
            </a:pPr>
            <a:r>
              <a:rPr lang="en-US" sz="15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license to a platform no rival can source or undercut.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2283A"/>
          </a:solidFill>
          <a:ln w="19050">
            <a:solidFill>
              <a:srgbClr val="13B5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FOUR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Beyond Antimicrobial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Antimicrobial protection is the entry point. The same engineered surface unlocks a full stack of functional performance — one platform, many product categories.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2496312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90472" y="2514600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Antimicrobial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8952" y="3172968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Contact-kill on bacteria incl. MRSA, E. coli, K. pneumoniae — non-leaching.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15968" y="2240280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2496312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65176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2514600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Anti-Odor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72000" y="3172968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Neutralizes Moraxella before malodor forms — ideal for activewear &amp; hospitality.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29016" y="2240280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85048" y="2496312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265176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16568" y="2514600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Antifungal &amp; Antiviral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385048" y="3172968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AATCC 30 antifungal; ISO 18184 antiviral on F1/F2 tiers.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02920" y="3986784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58952" y="4242816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98264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90472" y="426110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Protection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58952" y="4919472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surface adds measurable UV defense to apparel &amp; technical textiles.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315968" y="3986784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572000" y="4242816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4398264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303520" y="426110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Moisture-Wicking Enhancement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4572000" y="4919472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moisture management and quick-dry behavior on synthetics.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129016" y="3986784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385048" y="4242816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496" y="4398264"/>
            <a:ext cx="292608" cy="29260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116568" y="426110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/ Radiant-Heat Management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8385048" y="4919472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Solaris program: validated IR deflection for thermal-performance fabrics.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treatment. Antimicrobial, anti-odor, antifungal, antiviral, UV, wicking and IR — all from a single durable, 100-wash finish.</a:t>
            </a:r>
            <a:endParaRPr lang="en-US" sz="1250" dirty="0"/>
          </a:p>
        </p:txBody>
      </p:sp>
      <p:pic>
        <p:nvPicPr>
          <p:cNvPr id="38" name="Image 6" descr="assets/fuze-logo-horizont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0" name="Text 31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SHIFT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Non-leaching is the future — Sanitized can lead it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Leaching actives still dominate, but regulators and brands are moving away from them. Competitors — Silvadur, Polygiene, Microban, HeiQ, Rudolf — remain locked into leaching chemistry. FUZE gives Sanitized the non-leaching platform to lead the transition, validated on the right test.</a:t>
            </a:r>
            <a:endParaRPr lang="en-US" sz="14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77440"/>
          <a:ext cx="11155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2062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leaching actives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B5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FUZE metamaterial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mechanism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Leaches ions into moisture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Bonded — kills on contact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skin &amp; wash water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Migrates out over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leaches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AATCC 100 (built for leaching)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ASTM E2149 (built for contact-kill)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reports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Self-published marketing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Third-party, shared with brands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PFAS / binders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binder-dependent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PFAS · zero binders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range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Antimicrobial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Antimicrobial + UV + wicking + 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future of antimicrobial textiles is non-leaching. Lead it with FUZE.”</a:t>
            </a:r>
            <a:endParaRPr lang="en-US" sz="1400" dirty="0"/>
          </a:p>
        </p:txBody>
      </p:sp>
      <p:pic>
        <p:nvPicPr>
          <p:cNvPr id="7" name="Image 0" descr="assets/fuze-logo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PARTNERSHIP WINS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fit — what each side brings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91640"/>
            <a:ext cx="5486400" cy="530352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brings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42316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4712" y="23591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Patented, sole-source platform technology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83464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24712" y="27706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license &amp; first-mover advantage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246120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24712" y="31821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regulatory + test dossier (EPA, OEKO-TEX, bluesign)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657600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24712" y="35935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validation &amp; application know-how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069080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24712" y="40050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 credibility &amp; co-marketing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6263640" y="169164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6263640" y="1691640"/>
            <a:ext cx="5486400" cy="530352"/>
          </a:xfrm>
          <a:prstGeom prst="rect">
            <a:avLst/>
          </a:prstGeom>
          <a:solidFill>
            <a:srgbClr val="1FA89E"/>
          </a:solidFill>
          <a:ln/>
        </p:spPr>
      </p:sp>
      <p:sp>
        <p:nvSpPr>
          <p:cNvPr id="19" name="Text 12"/>
          <p:cNvSpPr/>
          <p:nvPr/>
        </p:nvSpPr>
        <p:spPr>
          <a:xfrm>
            <a:off x="6537960" y="16916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brings</a:t>
            </a:r>
            <a:endParaRPr lang="en-US" sz="16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2423160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85432" y="23591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years of hygiene-function market leadership</a:t>
            </a:r>
            <a:endParaRPr lang="en-US" sz="12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2834640"/>
            <a:ext cx="219456" cy="21945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885432" y="27706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Sanitized® ingredient-brand recognition &amp; trust</a:t>
            </a:r>
            <a:endParaRPr lang="en-US" sz="12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6248" y="3246120"/>
            <a:ext cx="219456" cy="21945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885432" y="31821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channels — textiles, polymers &amp; coatings</a:t>
            </a:r>
            <a:endParaRPr lang="en-US" sz="12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6248" y="3657600"/>
            <a:ext cx="219456" cy="219456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885432" y="35935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antimicrobial regulatory mastery (BPR · EPA)</a:t>
            </a:r>
            <a:endParaRPr lang="en-US" sz="125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6248" y="4069080"/>
            <a:ext cx="219456" cy="219456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885432" y="40050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application infrastructure</a:t>
            </a:r>
            <a:endParaRPr lang="en-US" sz="1250" dirty="0"/>
          </a:p>
        </p:txBody>
      </p:sp>
      <p:sp>
        <p:nvSpPr>
          <p:cNvPr id="30" name="Shape 18"/>
          <p:cNvSpPr/>
          <p:nvPr/>
        </p:nvSpPr>
        <p:spPr>
          <a:xfrm>
            <a:off x="502920" y="4663440"/>
            <a:ext cx="11201400" cy="1371600"/>
          </a:xfrm>
          <a:prstGeom prst="roundRect">
            <a:avLst>
              <a:gd name="adj" fmla="val 5333"/>
            </a:avLst>
          </a:prstGeom>
          <a:solidFill>
            <a:srgbClr val="12283A"/>
          </a:solidFill>
          <a:ln/>
        </p:spPr>
      </p:sp>
      <p:sp>
        <p:nvSpPr>
          <p:cNvPr id="31" name="Text 19"/>
          <p:cNvSpPr/>
          <p:nvPr/>
        </p:nvSpPr>
        <p:spPr>
          <a:xfrm>
            <a:off x="77724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150" dirty="0"/>
          </a:p>
        </p:txBody>
      </p:sp>
      <p:sp>
        <p:nvSpPr>
          <p:cNvPr id="32" name="Text 20"/>
          <p:cNvSpPr/>
          <p:nvPr/>
        </p:nvSpPr>
        <p:spPr>
          <a:xfrm>
            <a:off x="777240" y="5120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turnkey non-leaching platform —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premium revenue, higher margins, defensible IP and stickier customers — extending Sanitized’s hygiene-function leadership across textiles and polymers, with no new capital equipment.</a:t>
            </a:r>
            <a:endParaRPr lang="en-US" sz="1450" dirty="0"/>
          </a:p>
        </p:txBody>
      </p:sp>
      <p:pic>
        <p:nvPicPr>
          <p:cNvPr id="33" name="Image 10" descr="assets/fuze-logo-horizonta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5" name="Text 22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VALIDATION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global brands — recognition Sanitized’s worldwide customers already know.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8008" y="1993392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8008" y="1993392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7" name="Text 5"/>
          <p:cNvSpPr/>
          <p:nvPr/>
        </p:nvSpPr>
        <p:spPr>
          <a:xfrm>
            <a:off x="646024" y="1993392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Patagonia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01672" y="1993392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01672" y="1993392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10" name="Text 8"/>
          <p:cNvSpPr/>
          <p:nvPr/>
        </p:nvSpPr>
        <p:spPr>
          <a:xfrm>
            <a:off x="2529688" y="1993392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North Face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85336" y="1993392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85336" y="1993392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13" name="Text 11"/>
          <p:cNvSpPr/>
          <p:nvPr/>
        </p:nvSpPr>
        <p:spPr>
          <a:xfrm>
            <a:off x="4413352" y="1993392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Jack Wolfskin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69000" y="1993392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69000" y="1993392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16" name="Text 14"/>
          <p:cNvSpPr/>
          <p:nvPr/>
        </p:nvSpPr>
        <p:spPr>
          <a:xfrm>
            <a:off x="6297016" y="1993392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Canada Goose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52664" y="1993392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2664" y="1993392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19" name="Text 17"/>
          <p:cNvSpPr/>
          <p:nvPr/>
        </p:nvSpPr>
        <p:spPr>
          <a:xfrm>
            <a:off x="8180680" y="1993392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936328" y="1993392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36328" y="1993392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22" name="Text 20"/>
          <p:cNvSpPr/>
          <p:nvPr/>
        </p:nvSpPr>
        <p:spPr>
          <a:xfrm>
            <a:off x="10064344" y="1993392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Black Diamond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8008" y="2670048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8008" y="2670048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25" name="Text 23"/>
          <p:cNvSpPr/>
          <p:nvPr/>
        </p:nvSpPr>
        <p:spPr>
          <a:xfrm>
            <a:off x="646024" y="2670048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Mammut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401672" y="2670048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01672" y="2670048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28" name="Text 26"/>
          <p:cNvSpPr/>
          <p:nvPr/>
        </p:nvSpPr>
        <p:spPr>
          <a:xfrm>
            <a:off x="2529688" y="2670048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Marmot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285336" y="2670048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85336" y="2670048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31" name="Text 29"/>
          <p:cNvSpPr/>
          <p:nvPr/>
        </p:nvSpPr>
        <p:spPr>
          <a:xfrm>
            <a:off x="4413352" y="2670048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Montane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69000" y="2670048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69000" y="2670048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34" name="Text 32"/>
          <p:cNvSpPr/>
          <p:nvPr/>
        </p:nvSpPr>
        <p:spPr>
          <a:xfrm>
            <a:off x="6297016" y="2670048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Montbell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52664" y="2670048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52664" y="2670048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37" name="Text 35"/>
          <p:cNvSpPr/>
          <p:nvPr/>
        </p:nvSpPr>
        <p:spPr>
          <a:xfrm>
            <a:off x="8180680" y="2670048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YETI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936328" y="2670048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936328" y="2670048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40" name="Text 38"/>
          <p:cNvSpPr/>
          <p:nvPr/>
        </p:nvSpPr>
        <p:spPr>
          <a:xfrm>
            <a:off x="10064344" y="2670048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NEMO Equipment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18008" y="3346704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8008" y="3346704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43" name="Text 41"/>
          <p:cNvSpPr/>
          <p:nvPr/>
        </p:nvSpPr>
        <p:spPr>
          <a:xfrm>
            <a:off x="646024" y="3346704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Helly Hansen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401672" y="3346704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01672" y="3346704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46" name="Text 44"/>
          <p:cNvSpPr/>
          <p:nvPr/>
        </p:nvSpPr>
        <p:spPr>
          <a:xfrm>
            <a:off x="2529688" y="3346704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 to Summit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285336" y="3346704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85336" y="3346704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49" name="Text 47"/>
          <p:cNvSpPr/>
          <p:nvPr/>
        </p:nvSpPr>
        <p:spPr>
          <a:xfrm>
            <a:off x="4413352" y="3346704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Kathmandu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169000" y="3346704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69000" y="3346704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52" name="Text 50"/>
          <p:cNvSpPr/>
          <p:nvPr/>
        </p:nvSpPr>
        <p:spPr>
          <a:xfrm>
            <a:off x="6297016" y="3346704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Running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052664" y="3346704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52664" y="3346704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55" name="Text 53"/>
          <p:cNvSpPr/>
          <p:nvPr/>
        </p:nvSpPr>
        <p:spPr>
          <a:xfrm>
            <a:off x="8180680" y="3346704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936328" y="3346704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936328" y="3346704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58" name="Text 56"/>
          <p:cNvSpPr/>
          <p:nvPr/>
        </p:nvSpPr>
        <p:spPr>
          <a:xfrm>
            <a:off x="10064344" y="3346704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KUIU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18008" y="4023360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18008" y="4023360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61" name="Text 59"/>
          <p:cNvSpPr/>
          <p:nvPr/>
        </p:nvSpPr>
        <p:spPr>
          <a:xfrm>
            <a:off x="646024" y="4023360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Rhone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401672" y="4023360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401672" y="4023360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64" name="Text 62"/>
          <p:cNvSpPr/>
          <p:nvPr/>
        </p:nvSpPr>
        <p:spPr>
          <a:xfrm>
            <a:off x="2529688" y="4023360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Spanx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285336" y="4023360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285336" y="4023360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67" name="Text 65"/>
          <p:cNvSpPr/>
          <p:nvPr/>
        </p:nvSpPr>
        <p:spPr>
          <a:xfrm>
            <a:off x="4413352" y="4023360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True Classic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6169000" y="4023360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169000" y="4023360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70" name="Text 68"/>
          <p:cNvSpPr/>
          <p:nvPr/>
        </p:nvSpPr>
        <p:spPr>
          <a:xfrm>
            <a:off x="6297016" y="4023360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Bass Pro Shops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8052664" y="4023360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052664" y="4023360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73" name="Text 71"/>
          <p:cNvSpPr/>
          <p:nvPr/>
        </p:nvSpPr>
        <p:spPr>
          <a:xfrm>
            <a:off x="8180680" y="4023360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Marriott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9936328" y="4023360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936328" y="4023360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76" name="Text 74"/>
          <p:cNvSpPr/>
          <p:nvPr/>
        </p:nvSpPr>
        <p:spPr>
          <a:xfrm>
            <a:off x="10064344" y="4023360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Hilton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518008" y="4700016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18008" y="4700016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79" name="Text 77"/>
          <p:cNvSpPr/>
          <p:nvPr/>
        </p:nvSpPr>
        <p:spPr>
          <a:xfrm>
            <a:off x="646024" y="4700016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Choice Hotels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2401672" y="4700016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401672" y="4700016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82" name="Text 80"/>
          <p:cNvSpPr/>
          <p:nvPr/>
        </p:nvSpPr>
        <p:spPr>
          <a:xfrm>
            <a:off x="2529688" y="4700016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Nomad Home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4285336" y="4700016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285336" y="4700016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85" name="Text 83"/>
          <p:cNvSpPr/>
          <p:nvPr/>
        </p:nvSpPr>
        <p:spPr>
          <a:xfrm>
            <a:off x="4413352" y="4700016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Welspun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6169000" y="4700016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169000" y="4700016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88" name="Text 86"/>
          <p:cNvSpPr/>
          <p:nvPr/>
        </p:nvSpPr>
        <p:spPr>
          <a:xfrm>
            <a:off x="6297016" y="4700016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Penfabric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8052664" y="4700016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052664" y="4700016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91" name="Text 89"/>
          <p:cNvSpPr/>
          <p:nvPr/>
        </p:nvSpPr>
        <p:spPr>
          <a:xfrm>
            <a:off x="8180680" y="4700016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BesTex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9936328" y="4700016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936328" y="4700016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94" name="Text 92"/>
          <p:cNvSpPr/>
          <p:nvPr/>
        </p:nvSpPr>
        <p:spPr>
          <a:xfrm>
            <a:off x="10064344" y="4700016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SanMar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3343504" y="5376672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43504" y="5376672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97" name="Text 95"/>
          <p:cNvSpPr/>
          <p:nvPr/>
        </p:nvSpPr>
        <p:spPr>
          <a:xfrm>
            <a:off x="3471520" y="5376672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Toray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5227168" y="5376672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227168" y="5376672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100" name="Text 98"/>
          <p:cNvSpPr/>
          <p:nvPr/>
        </p:nvSpPr>
        <p:spPr>
          <a:xfrm>
            <a:off x="5355184" y="5376672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Mitsui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7110832" y="5376672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110832" y="5376672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103" name="Text 101"/>
          <p:cNvSpPr/>
          <p:nvPr/>
        </p:nvSpPr>
        <p:spPr>
          <a:xfrm>
            <a:off x="7238848" y="5376672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Itochu</a:t>
            </a:r>
            <a:endParaRPr lang="en-US" sz="1200" dirty="0"/>
          </a:p>
        </p:txBody>
      </p:sp>
      <p:pic>
        <p:nvPicPr>
          <p:cNvPr id="104" name="Image 0" descr="assets/fuze-logo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105" name="Text 102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06" name="Text 103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OPPORTUNITY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commercialization across Sanitized’s channels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already serves hygiene function across textiles, polymers and coatings worldwide. Those existing channels are the fastest commercialization pathway FUZE could have.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ACROSS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2578608" cy="457200"/>
          </a:xfrm>
          <a:prstGeom prst="roundRect">
            <a:avLst>
              <a:gd name="adj" fmla="val 1200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46888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Apparel &amp; activewear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82696" y="2468880"/>
            <a:ext cx="2368296" cy="457200"/>
          </a:xfrm>
          <a:prstGeom prst="roundRect">
            <a:avLst>
              <a:gd name="adj" fmla="val 1200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82696" y="246888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hospitality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52160" y="2468880"/>
            <a:ext cx="2368296" cy="457200"/>
          </a:xfrm>
          <a:prstGeom prst="roundRect">
            <a:avLst>
              <a:gd name="adj" fmla="val 1200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246888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textiles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21624" y="246888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21624" y="246888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939528" y="246888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39528" y="246888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Coatings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ROADMAP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611880"/>
            <a:ext cx="2670048" cy="2194560"/>
          </a:xfrm>
          <a:prstGeom prst="roundRect">
            <a:avLst>
              <a:gd name="adj" fmla="val 3333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114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Antimicrobial Textiles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892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F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proven, certified entry point.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72968" y="42976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B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3364992" y="3611880"/>
            <a:ext cx="2670048" cy="2194560"/>
          </a:xfrm>
          <a:prstGeom prst="roundRect">
            <a:avLst>
              <a:gd name="adj" fmla="val 3333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93592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93592" y="4114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Post-Leaching Programs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93592" y="4892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leaching actives &amp; PFAS across textiles and polymers.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42976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B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6227064" y="3611880"/>
            <a:ext cx="2670048" cy="2194560"/>
          </a:xfrm>
          <a:prstGeom prst="roundRect">
            <a:avLst>
              <a:gd name="adj" fmla="val 3333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55664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55664" y="4114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Surfaces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55664" y="4892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UV, wicking, IR, durability — performance textiles.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897112" y="42976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B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9089136" y="3611880"/>
            <a:ext cx="2670048" cy="2194560"/>
          </a:xfrm>
          <a:prstGeom prst="roundRect">
            <a:avLst>
              <a:gd name="adj" fmla="val 3333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17736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317736" y="4114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Next-Gen Materials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317736" y="4892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smart-textile surfaces.</a:t>
            </a:r>
            <a:endParaRPr lang="en-US" sz="1100" dirty="0"/>
          </a:p>
        </p:txBody>
      </p:sp>
      <p:pic>
        <p:nvPicPr>
          <p:cNvPr id="36" name="Image 0" descr="assets/fuze-logo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5D4"/>
          </a:solidFill>
          <a:ln/>
        </p:spPr>
      </p:sp>
      <p:pic>
        <p:nvPicPr>
          <p:cNvPr id="3" name="Image 0" descr="assets/fuze-icon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9418320" y="594360"/>
            <a:ext cx="2926080" cy="2240280"/>
          </a:xfrm>
          <a:prstGeom prst="rect">
            <a:avLst/>
          </a:prstGeom>
        </p:spPr>
      </p:pic>
      <p:pic>
        <p:nvPicPr>
          <p:cNvPr id="4" name="Image 1" descr="assets/fuze-logo-horizontal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85800"/>
            <a:ext cx="1828800" cy="5577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1828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HYGIENE FUNCTION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77240" y="2194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Sanitized has defined antimicrobial</a:t>
            </a:r>
            <a:endParaRPr lang="en-US" sz="3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hygiene function since 1935.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822960" y="36118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let’s define what comes next —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non-leaching generation of engineered surfaces delivering performance and safety across textiles and polymers, without legacy chemistry.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822960" y="5029200"/>
            <a:ext cx="10515600" cy="0"/>
          </a:xfrm>
          <a:prstGeom prst="line">
            <a:avLst/>
          </a:prstGeom>
          <a:noFill/>
          <a:ln w="12700">
            <a:solidFill>
              <a:srgbClr val="2C4A5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52120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Peterson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Founder, FUZE Biotech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andrew@fuze47.com  ·  fuzeatlas.com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2296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9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Technology Licensing Opportunity  ·  Confidential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FUZE Biotech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FUZE + Sanitized — Partnership Overview</dc:title>
  <dc:subject>PptxGenJS Presentation</dc:subject>
  <dc:creator>FUZE Biotech</dc:creator>
  <cp:lastModifiedBy>FUZE Biotech</cp:lastModifiedBy>
  <cp:revision>1</cp:revision>
  <dcterms:created xsi:type="dcterms:W3CDTF">2026-06-04T17:24:05Z</dcterms:created>
  <dcterms:modified xsi:type="dcterms:W3CDTF">2026-06-04T17:24:05Z</dcterms:modified>
</cp:coreProperties>
</file>